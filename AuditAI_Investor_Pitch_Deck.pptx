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7987" y="423322"/>
            <a:ext cx="11175720" cy="6011183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02556" y="778913"/>
            <a:ext cx="3386582" cy="660383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905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02556" y="778913"/>
            <a:ext cx="3386582" cy="6603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D893F2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9265" y="1794888"/>
            <a:ext cx="6773164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BDB7D0"/>
                </a:solidFill>
                <a:latin typeface="Poppins"/>
              </a:rPr>
              <a:t>PRESENTS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2620" y="2218211"/>
            <a:ext cx="8466455" cy="76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Josefin Sans"/>
              </a:rPr>
              <a:t>AUDIT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2620" y="3284984"/>
            <a:ext cx="8466455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00"/>
                </a:solidFill>
                <a:latin typeface="Josefin Sans"/>
              </a:rPr>
              <a:t>AI-Powered Smart Contract Security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62620" y="3750639"/>
            <a:ext cx="8466455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DB7D0"/>
                </a:solidFill>
                <a:latin typeface="Poppins"/>
              </a:rPr>
              <a:t>Static Analysis  •  Symbolic Execution  •  AI Detection  •  Continuous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94569" y="4402556"/>
            <a:ext cx="4402556" cy="52492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905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4569" y="4402556"/>
            <a:ext cx="4402556" cy="524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Team Unfiltered Devs   |   Securithm Product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9265" y="5486262"/>
            <a:ext cx="6773164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DB7D0"/>
                </a:solidFill>
                <a:latin typeface="Poppins"/>
              </a:rPr>
              <a:t>2026  •  SaaS Security Audit Platform  •  auditai.io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Product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310" y="1566294"/>
            <a:ext cx="5079873" cy="2116613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572" y="1718690"/>
            <a:ext cx="4233227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893F2"/>
                </a:solidFill>
                <a:latin typeface="Josefin Sans"/>
              </a:rPr>
              <a:t>What is AuditAI?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572" y="2048882"/>
            <a:ext cx="4741214" cy="1523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Poppins"/>
              </a:rPr>
              <a:t>An AI-powered SaaS platform that audits smart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Poppins"/>
              </a:rPr>
              <a:t>contracts in seconds — combining 500+ static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Poppins"/>
              </a:rPr>
              <a:t>rules, symbolic execution, and an LLM engine,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FFFFFF"/>
                </a:solidFill>
                <a:latin typeface="Poppins"/>
              </a:rPr>
              <a:t>with A–F risk scoring and on-chain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0512" y="1566294"/>
            <a:ext cx="5164537" cy="2116613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6774" y="1718690"/>
            <a:ext cx="4233227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893F2"/>
                </a:solidFill>
                <a:latin typeface="Josefin Sans"/>
              </a:rPr>
              <a:t>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6774" y="2133546"/>
            <a:ext cx="1693291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00"/>
                </a:solidFill>
                <a:latin typeface="Josefin Sans"/>
              </a:rPr>
              <a:t>$3.8B+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6774" y="2506070"/>
            <a:ext cx="1693291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lost to DeFi hacks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2397" y="2133546"/>
            <a:ext cx="1693291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00"/>
                </a:solidFill>
                <a:latin typeface="Josefin Sans"/>
              </a:rPr>
              <a:t>$100B+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2397" y="2506070"/>
            <a:ext cx="1693291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TVL at stake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38020" y="2133546"/>
            <a:ext cx="1693291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00"/>
                </a:solidFill>
                <a:latin typeface="Josefin Sans"/>
              </a:rPr>
              <a:t>47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38020" y="2506070"/>
            <a:ext cx="1693291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avg. to exploit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6774" y="2946326"/>
            <a:ext cx="4825879" cy="3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oppins"/>
              </a:rPr>
              <a:t>Audits cost $50K–$500K and take 4–8 weeks. We do it in 45 seconds.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1310" y="3979233"/>
            <a:ext cx="2506070" cy="1185303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5875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310" y="4275559"/>
            <a:ext cx="2506070" cy="3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Josefin Sans"/>
              </a:rPr>
              <a:t>94.7%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310" y="4741214"/>
            <a:ext cx="2506070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DB7D0"/>
                </a:solidFill>
                <a:latin typeface="Poppins"/>
              </a:rPr>
              <a:t>DETECTION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23642" y="3979233"/>
            <a:ext cx="2506070" cy="1185303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5875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23642" y="4275559"/>
            <a:ext cx="2506070" cy="3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Josefin Sans"/>
              </a:rPr>
              <a:t>45s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3642" y="4741214"/>
            <a:ext cx="2506070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DB7D0"/>
                </a:solidFill>
                <a:latin typeface="Poppins"/>
              </a:rPr>
              <a:t>AVG. SCAN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15975" y="3979233"/>
            <a:ext cx="2506070" cy="1185303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5875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5975" y="4275559"/>
            <a:ext cx="2506070" cy="3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5975" y="4741214"/>
            <a:ext cx="2506070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DB7D0"/>
                </a:solidFill>
                <a:latin typeface="Poppins"/>
              </a:rPr>
              <a:t>CHAINS SUPPORTED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8308" y="3979233"/>
            <a:ext cx="2506070" cy="1185303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5875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8308" y="4275559"/>
            <a:ext cx="2506070" cy="3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Josefin Sans"/>
              </a:rPr>
              <a:t>500+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8308" y="4741214"/>
            <a:ext cx="2506070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BDB7D0"/>
                </a:solidFill>
                <a:latin typeface="Poppins"/>
              </a:rPr>
              <a:t>VULN PATTERNS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1310" y="5418531"/>
            <a:ext cx="10413739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310" y="5418531"/>
            <a:ext cx="10413739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00"/>
                </a:solidFill>
                <a:latin typeface="Poppins"/>
              </a:rPr>
              <a:t>One-line pitch:  Ship secure contracts — before the hackers find the bugs.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Problem Statement &amp; Target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310" y="1566294"/>
            <a:ext cx="10413739" cy="1693291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FF4D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572" y="1718690"/>
            <a:ext cx="4233227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4D5A"/>
                </a:solidFill>
                <a:latin typeface="Josefin San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572" y="2065815"/>
            <a:ext cx="9990416" cy="1100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oppins"/>
              </a:rPr>
              <a:t>•  Manual audits take 4–8 weeks and cost $50K–$500K+ — critical bugs get exploited in as little as 6 hours.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oppins"/>
              </a:rPr>
              <a:t>•  Even expert auditors miss 15–20% of vulnerabilities; static tools drown teams in false positives.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oppins"/>
              </a:rPr>
              <a:t>•  Point-in-time audits go stale: 32% of exploits are reentrancy, 21% flash-loan attacks, 18% oracle manipulation.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310" y="3454313"/>
            <a:ext cx="3386582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TARGET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1310" y="3725240"/>
            <a:ext cx="5079873" cy="1058306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7572" y="3860703"/>
            <a:ext cx="4571885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00"/>
                </a:solidFill>
                <a:latin typeface="Josefin Sans"/>
              </a:rPr>
              <a:t>Protocol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572" y="4165495"/>
            <a:ext cx="4707348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7D0"/>
                </a:solidFill>
                <a:latin typeface="Poppins"/>
              </a:rPr>
              <a:t>Instant CI/CD scans on every push &amp; PR before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572" y="4436422"/>
            <a:ext cx="470734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E6A8"/>
                </a:solidFill>
                <a:latin typeface="Poppins"/>
              </a:rPr>
              <a:t>→  Faster, safer shipping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5176" y="3725240"/>
            <a:ext cx="5079873" cy="1058306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1438" y="3860703"/>
            <a:ext cx="4571885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00"/>
                </a:solidFill>
                <a:latin typeface="Josefin Sans"/>
              </a:rPr>
              <a:t>Security Auditors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1438" y="4165495"/>
            <a:ext cx="4707348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7D0"/>
                </a:solidFill>
                <a:latin typeface="Poppins"/>
              </a:rPr>
              <a:t>Auto-triage findings; focus human effort on business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1438" y="4436422"/>
            <a:ext cx="470734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E6A8"/>
                </a:solidFill>
                <a:latin typeface="Poppins"/>
              </a:rPr>
              <a:t>→  Higher coverage per hour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1310" y="4952876"/>
            <a:ext cx="5079873" cy="1058306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7572" y="5088339"/>
            <a:ext cx="4571885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00"/>
                </a:solidFill>
                <a:latin typeface="Josefin Sans"/>
              </a:rPr>
              <a:t>Investors &amp; DAOs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7572" y="5393131"/>
            <a:ext cx="4707348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7D0"/>
                </a:solidFill>
                <a:latin typeface="Poppins"/>
              </a:rPr>
              <a:t>A–F risk score any contract before investing or voting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572" y="5664058"/>
            <a:ext cx="470734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E6A8"/>
                </a:solidFill>
                <a:latin typeface="Poppins"/>
              </a:rPr>
              <a:t>→  Data-driven decisions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5176" y="4952876"/>
            <a:ext cx="5079873" cy="1058306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1438" y="5088339"/>
            <a:ext cx="4571885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00"/>
                </a:solidFill>
                <a:latin typeface="Josefin Sans"/>
              </a:rPr>
              <a:t>Exchanges &amp; Launchpads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1438" y="5393131"/>
            <a:ext cx="4707348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7D0"/>
                </a:solidFill>
                <a:latin typeface="Poppins"/>
              </a:rPr>
              <a:t>Screen listings at scale with the Risk Score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1438" y="5664058"/>
            <a:ext cx="470734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EE6A8"/>
                </a:solidFill>
                <a:latin typeface="Poppins"/>
              </a:rPr>
              <a:t>→  Automated due diligence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Existing Solutions &amp; Their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310" y="1608626"/>
            <a:ext cx="5079873" cy="1142971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572" y="1727156"/>
            <a:ext cx="3386582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Josefin Sans"/>
              </a:rPr>
              <a:t>Slither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572" y="2031949"/>
            <a:ext cx="3386582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893F2"/>
                </a:solidFill>
                <a:latin typeface="Poppins"/>
              </a:rPr>
              <a:t>Static analyzer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572" y="2285942"/>
            <a:ext cx="4707348" cy="3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7D0"/>
                </a:solidFill>
                <a:latin typeface="Poppins"/>
              </a:rPr>
              <a:t>High false positives; misses cross-contract &amp; economic bugs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5176" y="1608626"/>
            <a:ext cx="5079873" cy="1142971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1438" y="1727156"/>
            <a:ext cx="3386582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Josefin Sans"/>
              </a:rPr>
              <a:t>Mythril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1438" y="2031949"/>
            <a:ext cx="3386582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893F2"/>
                </a:solidFill>
                <a:latin typeface="Poppins"/>
              </a:rPr>
              <a:t>Symbolic executor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438" y="2285942"/>
            <a:ext cx="4707348" cy="3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7D0"/>
                </a:solidFill>
                <a:latin typeface="Poppins"/>
              </a:rPr>
              <a:t>Slow on large contracts; shallow business-logic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1310" y="2920926"/>
            <a:ext cx="5079873" cy="1142971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7572" y="3039457"/>
            <a:ext cx="3386582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Josefin Sans"/>
              </a:rPr>
              <a:t>Manual Audit Firms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572" y="3344249"/>
            <a:ext cx="3386582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893F2"/>
                </a:solidFill>
                <a:latin typeface="Poppins"/>
              </a:rPr>
              <a:t>Human experts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572" y="3598243"/>
            <a:ext cx="4707348" cy="3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7D0"/>
                </a:solidFill>
                <a:latin typeface="Poppins"/>
              </a:rPr>
              <a:t>$50K–$500K, 4–8 weeks, point-in-time only, hard to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5176" y="2920926"/>
            <a:ext cx="5079873" cy="1142971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1438" y="3039457"/>
            <a:ext cx="3386582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Josefin Sans"/>
              </a:rPr>
              <a:t>Basic LLM Checkers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1438" y="3344249"/>
            <a:ext cx="3386582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893F2"/>
                </a:solidFill>
                <a:latin typeface="Poppins"/>
              </a:rPr>
              <a:t>AI chatbots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1438" y="3598243"/>
            <a:ext cx="4707348" cy="338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DB7D0"/>
                </a:solidFill>
                <a:latin typeface="Poppins"/>
              </a:rPr>
              <a:t>Generic, no exploit grounding, no monitoring, no CI/CD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1310" y="4402556"/>
            <a:ext cx="10413739" cy="1693291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5875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7572" y="4554952"/>
            <a:ext cx="4233227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893F2"/>
                </a:solidFill>
                <a:latin typeface="Josefin Sans"/>
              </a:rPr>
              <a:t>The Gap AuditAI Fills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7572" y="4893610"/>
            <a:ext cx="9990416" cy="1100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•  Multi-engine depth of an audit firm — automated, repeatable, and 100x faster.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•  AI semantic layer catches business-logic &amp; economic attacks that pattern tools miss (+23% logic-vuln detection, −35% false positives).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•  Continuous monitoring keeps verdicts fresh — no more point-in-time audit decay.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•  API-first &amp; CI/CD-native: security embedded in the dev workflow, not bolted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Proposed Solution &amp; Key Innovations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310" y="1650958"/>
            <a:ext cx="5079873" cy="1227635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572" y="1786422"/>
            <a:ext cx="4571885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00"/>
                </a:solidFill>
                <a:latin typeface="Josefin Sans"/>
              </a:rPr>
              <a:t>01  Multi-Engine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572" y="2108147"/>
            <a:ext cx="4707348" cy="592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Static rules (500+) + symbolic execution (10^6 paths) + AI semantic analysis — consensus scoring across engines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5176" y="1650958"/>
            <a:ext cx="5079873" cy="1227635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1438" y="1786422"/>
            <a:ext cx="4571885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00"/>
                </a:solidFill>
                <a:latin typeface="Josefin Sans"/>
              </a:rPr>
              <a:t>02  AI Fix Suggestions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1438" y="2108147"/>
            <a:ext cx="4707348" cy="592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Context-aware patches with code, tests &amp; deployment notes for every finding — not just an alert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310" y="3047923"/>
            <a:ext cx="5079873" cy="1227635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7572" y="3183387"/>
            <a:ext cx="4571885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00"/>
                </a:solidFill>
                <a:latin typeface="Josefin Sans"/>
              </a:rPr>
              <a:t>03  Continuous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572" y="3505112"/>
            <a:ext cx="4707348" cy="592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On-chain surveillance of deployed contracts with 2.3s alert latency across 6 chains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5176" y="3047923"/>
            <a:ext cx="5079873" cy="1227635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1438" y="3183387"/>
            <a:ext cx="4571885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00"/>
                </a:solidFill>
                <a:latin typeface="Josefin Sans"/>
              </a:rPr>
              <a:t>04  Risk Score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1438" y="3505112"/>
            <a:ext cx="4707348" cy="592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A–F grade for any contract address in one call — for investors, exchanges &amp; DAOs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1310" y="4614217"/>
            <a:ext cx="10413739" cy="1523961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7572" y="4749681"/>
            <a:ext cx="4233227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E6A8"/>
                </a:solidFill>
                <a:latin typeface="Josefin Sans"/>
              </a:rPr>
              <a:t>Competitive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4632" y="5122205"/>
            <a:ext cx="2370607" cy="321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Josefin Sans"/>
              </a:rPr>
              <a:t>94.7%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4632" y="5503195"/>
            <a:ext cx="2370607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vs 74.8% industry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4569" y="5122205"/>
            <a:ext cx="2370607" cy="321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Josefin Sans"/>
              </a:rPr>
              <a:t>−35%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4569" y="5503195"/>
            <a:ext cx="2370607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false positives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4505" y="5122205"/>
            <a:ext cx="2370607" cy="321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Josefin Sans"/>
              </a:rPr>
              <a:t>45s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4505" y="5503195"/>
            <a:ext cx="2370607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vs 4–8 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4442" y="5122205"/>
            <a:ext cx="2370607" cy="321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Josefin Sans"/>
              </a:rPr>
              <a:t>$29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4442" y="5503195"/>
            <a:ext cx="2370607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vs $50K+ audits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Technical Approach — System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310" y="1693291"/>
            <a:ext cx="2336741" cy="126996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773" y="1811821"/>
            <a:ext cx="2065815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00"/>
                </a:solidFill>
                <a:latin typeface="Josefin San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773" y="2116613"/>
            <a:ext cx="2065815" cy="76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Paste code / .sol,.rs upload /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on-chain address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3310383" y="2260543"/>
            <a:ext cx="118530" cy="135463"/>
          </a:xfrm>
          <a:prstGeom prst="triangle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1246" y="1693291"/>
            <a:ext cx="2336741" cy="126996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6709" y="1811821"/>
            <a:ext cx="2065815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00"/>
                </a:solidFill>
                <a:latin typeface="Josefin Sans"/>
              </a:rP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6709" y="2116613"/>
            <a:ext cx="2065815" cy="76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Solidity • Vyper • Rust → unified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AST + CFG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5850320" y="2260543"/>
            <a:ext cx="118530" cy="135463"/>
          </a:xfrm>
          <a:prstGeom prst="triangle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11183" y="1693291"/>
            <a:ext cx="2336741" cy="126996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6646" y="1811821"/>
            <a:ext cx="2065815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00"/>
                </a:solidFill>
                <a:latin typeface="Josefin Sans"/>
              </a:rPr>
              <a:t>STATIC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6646" y="2116613"/>
            <a:ext cx="2065815" cy="76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500+ rules: reentrancy, access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control, oracle bugs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8390256" y="2260543"/>
            <a:ext cx="118530" cy="135463"/>
          </a:xfrm>
          <a:prstGeom prst="triangle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51119" y="1693291"/>
            <a:ext cx="2336741" cy="126996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582" y="1811821"/>
            <a:ext cx="2065815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00"/>
                </a:solidFill>
                <a:latin typeface="Josefin Sans"/>
              </a:rPr>
              <a:t>SYMBOLIC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582" y="2116613"/>
            <a:ext cx="2065815" cy="76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Z3 constraint solving, 10^6 path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exploration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310" y="3471246"/>
            <a:ext cx="2336741" cy="126996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6773" y="3589776"/>
            <a:ext cx="2065815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00"/>
                </a:solidFill>
                <a:latin typeface="Josefin Sans"/>
              </a:rPr>
              <a:t>AI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773" y="3894569"/>
            <a:ext cx="2065815" cy="76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Fine-tuned LLM + RAG — logic &amp;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economic attacks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3310383" y="4038499"/>
            <a:ext cx="118530" cy="135463"/>
          </a:xfrm>
          <a:prstGeom prst="triangle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71246" y="3471246"/>
            <a:ext cx="2336741" cy="126996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6709" y="3589776"/>
            <a:ext cx="2065815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00"/>
                </a:solidFill>
                <a:latin typeface="Josefin Sans"/>
              </a:rPr>
              <a:t>AGGREGATE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6709" y="3894569"/>
            <a:ext cx="2065815" cy="76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Dedup, severity (CVSS),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cross-engine consensus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5850320" y="4038499"/>
            <a:ext cx="118530" cy="135463"/>
          </a:xfrm>
          <a:prstGeom prst="triangle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11183" y="3471246"/>
            <a:ext cx="2336741" cy="126996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6646" y="3589776"/>
            <a:ext cx="2065815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00"/>
                </a:solidFill>
                <a:latin typeface="Josefin San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6646" y="3894569"/>
            <a:ext cx="2065815" cy="76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Findings + AI fixes + A–F Risk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Score + report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8390256" y="4038499"/>
            <a:ext cx="118530" cy="135463"/>
          </a:xfrm>
          <a:prstGeom prst="triangle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51119" y="3471246"/>
            <a:ext cx="2336741" cy="126996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582" y="3589776"/>
            <a:ext cx="2065815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00"/>
                </a:solidFill>
                <a:latin typeface="Josefin Sans"/>
              </a:rPr>
              <a:t>MONITOR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582" y="3894569"/>
            <a:ext cx="2065815" cy="761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Deployed-contract watch, 2.3s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alerts, CI/CD hooks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09265" y="4893610"/>
            <a:ext cx="6773164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2EE6A8"/>
                </a:solidFill>
                <a:latin typeface="Poppins"/>
              </a:rPr>
              <a:t>Avg. full-pipeline scan: 45 seconds standard contract  •  3–8 min complex protocol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1310" y="5249202"/>
            <a:ext cx="10413739" cy="846645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5875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7572" y="5350799"/>
            <a:ext cx="4233227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893F2"/>
                </a:solidFill>
                <a:latin typeface="Josefin Sans"/>
              </a:rPr>
              <a:t>Detection Performance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4632" y="5655591"/>
            <a:ext cx="2455271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Reentrancy 99.2%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4632" y="5858786"/>
            <a:ext cx="2455271" cy="135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DB7D0"/>
                </a:solidFill>
                <a:latin typeface="Poppins"/>
              </a:rPr>
              <a:t>vs 87% industry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94569" y="5655591"/>
            <a:ext cx="2455271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Access Control 96.8%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94569" y="5858786"/>
            <a:ext cx="2455271" cy="135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DB7D0"/>
                </a:solidFill>
                <a:latin typeface="Poppins"/>
              </a:rPr>
              <a:t>vs 82%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4505" y="5655591"/>
            <a:ext cx="2455271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Flash Loan 94.1%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4505" y="5858786"/>
            <a:ext cx="2455271" cy="135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DB7D0"/>
                </a:solidFill>
                <a:latin typeface="Poppins"/>
              </a:rPr>
              <a:t>vs 76%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74442" y="5655591"/>
            <a:ext cx="2455271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oppins"/>
              </a:rPr>
              <a:t>Business Logic 89.3%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74442" y="5858786"/>
            <a:ext cx="2455271" cy="135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BDB7D0"/>
                </a:solidFill>
                <a:latin typeface="Poppins"/>
              </a:rPr>
              <a:t>vs 58%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Technology Stack — What Powers AuditAI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310" y="1608626"/>
            <a:ext cx="3352716" cy="167635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639" y="1727156"/>
            <a:ext cx="2878594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Josefin San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639" y="2048882"/>
            <a:ext cx="3047923" cy="1100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Next.js 15 + React 19 + TypeScript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Tailwind CSS 4 + Radix UI components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Three.js / GSAP visualizations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Lucide icon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355" y="1608626"/>
            <a:ext cx="3352716" cy="167635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2684" y="1727156"/>
            <a:ext cx="2878594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Josefin Sans"/>
              </a:rPr>
              <a:t>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2684" y="2048882"/>
            <a:ext cx="3047923" cy="1100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FastAPI (Python 3.12) · 14+ REST endpoints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JWT auth · API keys · Pydantic v2 schemas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Versioned /api/v1 · Uvicorn ASGI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reportlab PDF reports · Resend 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5400" y="1608626"/>
            <a:ext cx="3352716" cy="167635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4729" y="1727156"/>
            <a:ext cx="2878594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Josefin Sans"/>
              </a:rPr>
              <a:t>DATA &amp;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4729" y="2048882"/>
            <a:ext cx="3047923" cy="1100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PostgreSQL 16 + SQLAlchemy ORM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Alembic migrations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Redis 7 cache + task broker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Celery background scan workers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1310" y="3454313"/>
            <a:ext cx="3352716" cy="167635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0639" y="3572844"/>
            <a:ext cx="2878594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Josefin Sans"/>
              </a:rPr>
              <a:t>AI / ML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639" y="3894569"/>
            <a:ext cx="3047923" cy="1100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Fine-tuned security LLM + RAG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Z3 symbolic constraint solver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500+ static detection rules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CVSS severity scoring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355" y="3454313"/>
            <a:ext cx="3352716" cy="167635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2684" y="3572844"/>
            <a:ext cx="2878594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Josefin Sans"/>
              </a:rPr>
              <a:t>BLOCKCHAIN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2684" y="3894569"/>
            <a:ext cx="3047923" cy="1100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Solidity 0.4–0.8 · Vyper · Rust/Anchor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eth-account · Risk Score API (A–F)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6 chains: ETH, Base, Arbitrum,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Polygon, BSC, Solana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5400" y="3454313"/>
            <a:ext cx="3352716" cy="167635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4729" y="3572844"/>
            <a:ext cx="2878594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Josefin Sans"/>
              </a:rPr>
              <a:t>DEVOPS &amp; CI/CD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4729" y="3894569"/>
            <a:ext cx="3047923" cy="1100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GitHub Actions scan bot on PRs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Docker Compose infra (PG + Redis)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Vercel frontend deploys</a:t>
            </a:r>
          </a:p>
          <a:p>
            <a:pPr algn="l">
              <a:lnSpc>
                <a:spcPct val="170000"/>
              </a:lnSpc>
            </a:pPr>
            <a:r>
              <a:rPr sz="850" b="0">
                <a:solidFill>
                  <a:srgbClr val="FFFFFF"/>
                </a:solidFill>
                <a:latin typeface="Poppins"/>
              </a:rPr>
              <a:t>Sentry monitoring + Resend email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310" y="5333866"/>
            <a:ext cx="10413739" cy="931310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5875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7572" y="5418531"/>
            <a:ext cx="4233227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D893F2"/>
                </a:solidFill>
                <a:latin typeface="Poppins"/>
              </a:rPr>
              <a:t>END-TO-END REQUEST 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19169" y="5740256"/>
            <a:ext cx="1456230" cy="372524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270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9169" y="5740256"/>
            <a:ext cx="1456230" cy="372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Poppins"/>
              </a:rPr>
              <a:t>Next.js Dashboard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2726198" y="5858786"/>
            <a:ext cx="118530" cy="135463"/>
          </a:xfrm>
          <a:prstGeom prst="triangle">
            <a:avLst/>
          </a:prstGeom>
          <a:solidFill>
            <a:srgbClr val="D89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95527" y="5740256"/>
            <a:ext cx="1456230" cy="372524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270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95527" y="5740256"/>
            <a:ext cx="1456230" cy="372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Poppins"/>
              </a:rPr>
              <a:t>FastAPI REST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4402556" y="5858786"/>
            <a:ext cx="118530" cy="135463"/>
          </a:xfrm>
          <a:prstGeom prst="triangle">
            <a:avLst/>
          </a:prstGeom>
          <a:solidFill>
            <a:srgbClr val="D89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1885" y="5740256"/>
            <a:ext cx="1456230" cy="372524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270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1885" y="5740256"/>
            <a:ext cx="1456230" cy="372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Poppins"/>
              </a:rPr>
              <a:t>Celery + Redis Queue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6078914" y="5858786"/>
            <a:ext cx="118530" cy="135463"/>
          </a:xfrm>
          <a:prstGeom prst="triangle">
            <a:avLst/>
          </a:prstGeom>
          <a:solidFill>
            <a:srgbClr val="D89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48243" y="5740256"/>
            <a:ext cx="1456230" cy="372524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270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8243" y="5740256"/>
            <a:ext cx="1456230" cy="372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Poppins"/>
              </a:rPr>
              <a:t>Analysis Engines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7755272" y="5858786"/>
            <a:ext cx="118530" cy="135463"/>
          </a:xfrm>
          <a:prstGeom prst="triangle">
            <a:avLst/>
          </a:prstGeom>
          <a:solidFill>
            <a:srgbClr val="D89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24601" y="5740256"/>
            <a:ext cx="1456230" cy="372524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270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4601" y="5740256"/>
            <a:ext cx="1456230" cy="372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Poppins"/>
              </a:rPr>
              <a:t>PostgreSQL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9431630" y="5858786"/>
            <a:ext cx="118530" cy="135463"/>
          </a:xfrm>
          <a:prstGeom prst="triangle">
            <a:avLst/>
          </a:prstGeom>
          <a:solidFill>
            <a:srgbClr val="D89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600959" y="5740256"/>
            <a:ext cx="1456230" cy="372524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270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0959" y="5740256"/>
            <a:ext cx="1456230" cy="3725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Poppins"/>
              </a:rPr>
              <a:t>Alerts +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310" y="1608626"/>
            <a:ext cx="4741214" cy="626517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639" y="1710223"/>
            <a:ext cx="4571885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Josefin Sans"/>
              </a:rPr>
              <a:t>CLIENT — Next.js 15 Dashboard (React 19, Tailwind, GSAP)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639" y="1947284"/>
            <a:ext cx="4571885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Team seats, scan UI, remediation workflow, API console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1310" y="2472204"/>
            <a:ext cx="4741214" cy="626517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639" y="2573802"/>
            <a:ext cx="4571885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Josefin Sans"/>
              </a:rPr>
              <a:t>JOB QUEUE — Redis 7 broker + Celery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639" y="2810863"/>
            <a:ext cx="4571885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Async scan pipeline, retries, scheduled monitor sweeps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1310" y="3335783"/>
            <a:ext cx="4741214" cy="626517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639" y="3437380"/>
            <a:ext cx="4571885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Josefin Sans"/>
              </a:rPr>
              <a:t>DATA — PostgreSQL 16 (SQLAlchemy + Alembic)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639" y="3674441"/>
            <a:ext cx="4571885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Orgs, scans, findings, monitors, usage meters, audit trails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170" y="1608626"/>
            <a:ext cx="4741214" cy="626517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8499" y="1710223"/>
            <a:ext cx="4571885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Josefin Sans"/>
              </a:rPr>
              <a:t>API GATEWAY — FastAPI (Uvicorn ASGI) + JWT / API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499" y="1947284"/>
            <a:ext cx="4571885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/api/v1: scans, findings, monitoring, risk-score, billing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9170" y="2472204"/>
            <a:ext cx="4741214" cy="626517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8499" y="2573802"/>
            <a:ext cx="4571885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Josefin Sans"/>
              </a:rPr>
              <a:t>ANALYSIS ENGINES — Static + Symbolic (Z3) + AI LLM/RAG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8499" y="2810863"/>
            <a:ext cx="4571885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500+ rules · 10^6 paths · CVSS scoring · fix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9170" y="3335783"/>
            <a:ext cx="4741214" cy="626517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88499" y="3437380"/>
            <a:ext cx="4571885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Josefin Sans"/>
              </a:rPr>
              <a:t>BLOCKCHAIN WATCHERS — eth-account RPC polling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499" y="3674441"/>
            <a:ext cx="4571885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Ethereum, Base, Arbitrum, Polygon, BSC, Solana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01917" y="2235144"/>
            <a:ext cx="19050" cy="237060"/>
          </a:xfrm>
          <a:prstGeom prst="rect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9777" y="2235144"/>
            <a:ext cx="19050" cy="237060"/>
          </a:xfrm>
          <a:prstGeom prst="rect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01917" y="3098722"/>
            <a:ext cx="19050" cy="237060"/>
          </a:xfrm>
          <a:prstGeom prst="rect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89777" y="3098722"/>
            <a:ext cx="19050" cy="237060"/>
          </a:xfrm>
          <a:prstGeom prst="rect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72524" y="1879553"/>
            <a:ext cx="846645" cy="19050"/>
          </a:xfrm>
          <a:prstGeom prst="rect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72524" y="2785463"/>
            <a:ext cx="846645" cy="19050"/>
          </a:xfrm>
          <a:prstGeom prst="rect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72524" y="3649042"/>
            <a:ext cx="846645" cy="19050"/>
          </a:xfrm>
          <a:prstGeom prst="rect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1310" y="4199361"/>
            <a:ext cx="5079873" cy="507987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0639" y="4300959"/>
            <a:ext cx="4825879" cy="304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00"/>
                </a:solidFill>
                <a:latin typeface="Poppins"/>
              </a:rPr>
              <a:t>CI/CD: GitHub Action scans every push/PR with inline findings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5176" y="4199361"/>
            <a:ext cx="5079873" cy="507987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4505" y="4300959"/>
            <a:ext cx="4825879" cy="304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FFF00"/>
                </a:solidFill>
                <a:latin typeface="Poppins"/>
              </a:rPr>
              <a:t>ALERTS: Slack / Discord / Email / Webhook (2.3s latency)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1310" y="4910543"/>
            <a:ext cx="10413739" cy="1354632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7572" y="5029074"/>
            <a:ext cx="4233227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893F2"/>
                </a:solidFill>
                <a:latin typeface="Josefin Sans"/>
              </a:rPr>
              <a:t>DEPLOYMENT &amp; SCALE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4632" y="5384665"/>
            <a:ext cx="1947284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Vercel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4632" y="5655591"/>
            <a:ext cx="194728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frontend + edge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8914" y="5384665"/>
            <a:ext cx="1947284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Docker Compose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8914" y="5655591"/>
            <a:ext cx="194728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PG + Redis infra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3195" y="5384665"/>
            <a:ext cx="1947284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Worker autoscale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03195" y="5655591"/>
            <a:ext cx="194728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10k+ scans/hour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7477" y="5384665"/>
            <a:ext cx="1947284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Sentry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77477" y="5655591"/>
            <a:ext cx="194728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error telemetry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51758" y="5384665"/>
            <a:ext cx="1947284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99.97%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51758" y="5655591"/>
            <a:ext cx="194728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API uptime, 12 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Product Walkthrough — Live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1310" y="1473163"/>
            <a:ext cx="7619809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BDB7D0"/>
                </a:solidFill>
                <a:latin typeface="Poppins"/>
              </a:rPr>
              <a:t>Real product UI · demo org data · scans, monitoring &amp; alerting in production shape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310" y="1761022"/>
            <a:ext cx="3352716" cy="321725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74" y="1845687"/>
            <a:ext cx="3183387" cy="1794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3706" y="3691374"/>
            <a:ext cx="3047923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00"/>
                </a:solidFill>
                <a:latin typeface="Josefin Sans"/>
              </a:rPr>
              <a:t>Dashboard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706" y="3945368"/>
            <a:ext cx="3081789" cy="677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Quick scan (code / address / GitHub), live</a:t>
            </a:r>
          </a:p>
          <a:p>
            <a:pPr algn="l">
              <a:lnSpc>
                <a:spcPct val="140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usage meters, CI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355" y="1761022"/>
            <a:ext cx="3352716" cy="321725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a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019" y="1845687"/>
            <a:ext cx="3183387" cy="1794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05751" y="3691374"/>
            <a:ext cx="3047923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00"/>
                </a:solidFill>
                <a:latin typeface="Josefin Sans"/>
              </a:rPr>
              <a:t>Scans &amp; Risk Grades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5751" y="3945368"/>
            <a:ext cx="3081789" cy="677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A-F risk grades per contract —</a:t>
            </a:r>
          </a:p>
          <a:p>
            <a:pPr algn="l">
              <a:lnSpc>
                <a:spcPct val="140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VulnerableVault graded 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5400" y="1761022"/>
            <a:ext cx="3352716" cy="321725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onito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065" y="1845687"/>
            <a:ext cx="3183387" cy="17948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27796" y="3691374"/>
            <a:ext cx="3047923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00"/>
                </a:solidFill>
                <a:latin typeface="Josefin Sans"/>
              </a:rPr>
              <a:t>Continuous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3945368"/>
            <a:ext cx="3081789" cy="677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On-chain watchtowers with health status +</a:t>
            </a:r>
          </a:p>
          <a:p>
            <a:pPr algn="l">
              <a:lnSpc>
                <a:spcPct val="140000"/>
              </a:lnSpc>
            </a:pPr>
            <a:r>
              <a:rPr sz="850" b="0">
                <a:solidFill>
                  <a:srgbClr val="BDB7D0"/>
                </a:solidFill>
                <a:latin typeface="Poppins"/>
              </a:rPr>
              <a:t>activity feed alerts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1310" y="5249202"/>
            <a:ext cx="10413739" cy="1015974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5875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7572" y="5350799"/>
            <a:ext cx="3386582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93F2"/>
                </a:solidFill>
                <a:latin typeface="Josefin Sans"/>
              </a:rPr>
              <a:t>SHIPS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572" y="5587860"/>
            <a:ext cx="9990416" cy="507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Next.js dashboard (11 pages) · FastAPI (14+ REST endpoints) · GitHub Action CI bot ·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A-F Risk Score API · remediation workflow with sign-off &amp; audit-trail export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Tokenomics — SCRT Utility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310" y="1566294"/>
            <a:ext cx="4741214" cy="220127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572" y="1701757"/>
            <a:ext cx="3386582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893F2"/>
                </a:solidFill>
                <a:latin typeface="Josefin Sans"/>
              </a:rPr>
              <a:t>Token 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572" y="2082747"/>
            <a:ext cx="677316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Poppins"/>
              </a:rPr>
              <a:t>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2620" y="2082747"/>
            <a:ext cx="3640575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oppins"/>
              </a:rPr>
              <a:t>scans, monitoring, API &amp; enterprise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572" y="2472204"/>
            <a:ext cx="677316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Poppins"/>
              </a:rPr>
              <a:t>STAKE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2620" y="2472204"/>
            <a:ext cx="3640575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oppins"/>
              </a:rPr>
              <a:t>discounts, priority access, higher API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572" y="2861661"/>
            <a:ext cx="677316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Poppins"/>
              </a:rPr>
              <a:t>GOVERN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2620" y="2861661"/>
            <a:ext cx="3640575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oppins"/>
              </a:rPr>
              <a:t>vote on features, fees, ecosystem fund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572" y="3251118"/>
            <a:ext cx="677316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Poppins"/>
              </a:rPr>
              <a:t>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2620" y="3251118"/>
            <a:ext cx="3640575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oppins"/>
              </a:rPr>
              <a:t>bug bounties, referrals, community rewards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26518" y="1566294"/>
            <a:ext cx="5418531" cy="220127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2780" y="1701757"/>
            <a:ext cx="3386582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893F2"/>
                </a:solidFill>
                <a:latin typeface="Josefin Sans"/>
              </a:rPr>
              <a:t>Token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2780" y="2099680"/>
            <a:ext cx="143929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oppins"/>
              </a:rPr>
              <a:t>Ecosystem Fund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19809" y="2116613"/>
            <a:ext cx="1777955" cy="101597"/>
          </a:xfrm>
          <a:prstGeom prst="roundRect">
            <a:avLst>
              <a:gd name="adj" fmla="val 50000"/>
            </a:avLst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98404" y="2099680"/>
            <a:ext cx="71964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</a:rPr>
              <a:t>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2780" y="2362140"/>
            <a:ext cx="143929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oppins"/>
              </a:rPr>
              <a:t>Community Rewards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19809" y="2379073"/>
            <a:ext cx="1269968" cy="101597"/>
          </a:xfrm>
          <a:prstGeom prst="roundRect">
            <a:avLst>
              <a:gd name="adj" fmla="val 50000"/>
            </a:avLst>
          </a:prstGeom>
          <a:solidFill>
            <a:srgbClr val="D89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98404" y="2362140"/>
            <a:ext cx="71964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</a:rPr>
              <a:t>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2780" y="2624601"/>
            <a:ext cx="143929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oppins"/>
              </a:rPr>
              <a:t>Team &amp; Advisors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9809" y="2641533"/>
            <a:ext cx="1015974" cy="101597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98404" y="2624601"/>
            <a:ext cx="71964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</a:rPr>
              <a:t>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12780" y="2887061"/>
            <a:ext cx="143929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oppins"/>
              </a:rPr>
              <a:t>Private Sale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19809" y="2903994"/>
            <a:ext cx="507987" cy="101597"/>
          </a:xfrm>
          <a:prstGeom prst="roundRect">
            <a:avLst>
              <a:gd name="adj" fmla="val 50000"/>
            </a:avLst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98404" y="2887061"/>
            <a:ext cx="71964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</a:rPr>
              <a:t>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2780" y="3149521"/>
            <a:ext cx="143929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oppins"/>
              </a:rPr>
              <a:t>Public Sale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19809" y="3166454"/>
            <a:ext cx="253993" cy="101597"/>
          </a:xfrm>
          <a:prstGeom prst="roundRect">
            <a:avLst>
              <a:gd name="adj" fmla="val 50000"/>
            </a:avLst>
          </a:prstGeom>
          <a:solidFill>
            <a:srgbClr val="FF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98404" y="3149521"/>
            <a:ext cx="71964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</a:rPr>
              <a:t>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12780" y="3411981"/>
            <a:ext cx="143929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Poppins"/>
              </a:rPr>
              <a:t>Liquidity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19809" y="3428914"/>
            <a:ext cx="253993" cy="101597"/>
          </a:xfrm>
          <a:prstGeom prst="roundRect">
            <a:avLst>
              <a:gd name="adj" fmla="val 50000"/>
            </a:avLst>
          </a:prstGeom>
          <a:solidFill>
            <a:srgbClr val="FF4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98404" y="3411981"/>
            <a:ext cx="71964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</a:rPr>
              <a:t>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12780" y="3623642"/>
            <a:ext cx="5079873" cy="135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BDB7D0"/>
                </a:solidFill>
                <a:latin typeface="Poppins"/>
              </a:rPr>
              <a:t>Vesting: Team 1y cliff / 3y linear • Private 6m cliff / 1y • Public 25% TGE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1310" y="3962300"/>
            <a:ext cx="4741214" cy="2302875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7572" y="4097764"/>
            <a:ext cx="4063898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E6A8"/>
                </a:solidFill>
                <a:latin typeface="Josefin Sans"/>
              </a:rPr>
              <a:t>Economic Model — The Flywheel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7572" y="4470288"/>
            <a:ext cx="4402556" cy="1693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1. Demand: teams need constant security coverage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2. Utility: SCRT pays for scans, staking, governance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3. Value accrual: fee burning + revenue buybacks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4. Growth: rewards attract auditors &amp; contributors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5. Platform improves → more demand → repeat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6518" y="3962300"/>
            <a:ext cx="5418531" cy="2302875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FF4D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12780" y="4097764"/>
            <a:ext cx="4063898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4D5A"/>
                </a:solidFill>
                <a:latin typeface="Josefin Sans"/>
              </a:rPr>
              <a:t>Deflationary Mechanisms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12780" y="4504154"/>
            <a:ext cx="2539936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Poppins"/>
              </a:rPr>
              <a:t>• Fee Burning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2109" y="4707348"/>
            <a:ext cx="474121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share of every SCRT service fee burned forever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2780" y="4944409"/>
            <a:ext cx="2539936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Poppins"/>
              </a:rPr>
              <a:t>• Buyback &amp; Burn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2109" y="5147604"/>
            <a:ext cx="474121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fiat revenue used to buy &amp; burn SCRT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12780" y="5384665"/>
            <a:ext cx="2539936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Poppins"/>
              </a:rPr>
              <a:t>• Staking Lockups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2109" y="5587860"/>
            <a:ext cx="474121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loyalty tiers reduce circulating supply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12780" y="5824921"/>
            <a:ext cx="2539936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Poppins"/>
              </a:rPr>
              <a:t>• Bounty Escrow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82109" y="6028115"/>
            <a:ext cx="4741214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treasury SCRT reserved for bounties &amp; grants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Business Model &amp; Pricing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310" y="1608626"/>
            <a:ext cx="2506070" cy="279393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20320">
            <a:solidFill>
              <a:srgbClr val="BDB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1310" y="1828754"/>
            <a:ext cx="2506070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osefin Sans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1310" y="2116613"/>
            <a:ext cx="2506070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Josefin Sans"/>
              </a:rPr>
              <a:t>$0/mo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5303" y="2692332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50 scans/mo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5303" y="2980192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1 monitored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5303" y="3268051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GitHub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5303" y="3555911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Community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23642" y="1608626"/>
            <a:ext cx="2506070" cy="279393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2032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3642" y="1828754"/>
            <a:ext cx="2506070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947FF"/>
                </a:solidFill>
                <a:latin typeface="Josefin Sans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3642" y="2116613"/>
            <a:ext cx="2506070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Josefin Sans"/>
              </a:rPr>
              <a:t>$29/mo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636" y="2692332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500 scans/mo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7636" y="2980192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10 monitored contracts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636" y="3268051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AI fix suggestions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636" y="3555911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Slack/Discord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3642" y="1439297"/>
            <a:ext cx="2506070" cy="135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FFFF00"/>
                </a:solidFill>
                <a:latin typeface="Poppins"/>
              </a:rPr>
              <a:t>MOST POPULAR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5975" y="1608626"/>
            <a:ext cx="2506070" cy="279393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20320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5975" y="1828754"/>
            <a:ext cx="2506070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D893F2"/>
                </a:solidFill>
                <a:latin typeface="Josefin Sans"/>
              </a:rPr>
              <a:t>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5975" y="2116613"/>
            <a:ext cx="2506070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Josefin Sans"/>
              </a:rPr>
              <a:t>$99/mo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9969" y="2692332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2,000 scans/mo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9969" y="2980192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50 monitored contracts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9969" y="3268051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Remediation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9969" y="3555911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Unlimited seats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8308" y="1608626"/>
            <a:ext cx="2506070" cy="279393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20320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8308" y="1828754"/>
            <a:ext cx="2506070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EE6A8"/>
                </a:solidFill>
                <a:latin typeface="Josefin Sans"/>
              </a:rPr>
              <a:t>ENTERPRISE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8308" y="2116613"/>
            <a:ext cx="2506070" cy="30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Josefin Sans"/>
              </a:rPr>
              <a:t>Custom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301" y="2692332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Unlimited scans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301" y="2980192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Risk Score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2301" y="3268051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99.95%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301" y="3555911"/>
            <a:ext cx="2201278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• Dedicated support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1310" y="4614217"/>
            <a:ext cx="10413739" cy="1650958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7572" y="4741214"/>
            <a:ext cx="4233227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893F2"/>
                </a:solidFill>
                <a:latin typeface="Josefin Sans"/>
              </a:rPr>
              <a:t>Revenue Streams &amp; Unit Economics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4632" y="5062940"/>
            <a:ext cx="3386582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Poppins"/>
              </a:rPr>
              <a:t>• Subscription SaaS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3961" y="5249202"/>
            <a:ext cx="406389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core recurring revenue across 4 tiers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170" y="5062940"/>
            <a:ext cx="3386582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Poppins"/>
              </a:rPr>
              <a:t>• Usage-based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88499" y="5249202"/>
            <a:ext cx="406389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$0.10 per extra scan; volume discounts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4632" y="5604793"/>
            <a:ext cx="3386582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Poppins"/>
              </a:rPr>
              <a:t>• API Licensing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3961" y="5791055"/>
            <a:ext cx="406389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Risk Score API for exchanges &amp; wallets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170" y="5604793"/>
            <a:ext cx="3386582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00"/>
                </a:solidFill>
                <a:latin typeface="Poppins"/>
              </a:rPr>
              <a:t>• Enterprise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88499" y="5791055"/>
            <a:ext cx="4063898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custom infra, compliance docs, SLAs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Development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5303" y="2184345"/>
            <a:ext cx="9905752" cy="28575"/>
          </a:xfrm>
          <a:prstGeom prst="rect">
            <a:avLst/>
          </a:prstGeom>
          <a:solidFill>
            <a:srgbClr val="394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8147" y="2116613"/>
            <a:ext cx="152396" cy="152396"/>
          </a:xfrm>
          <a:prstGeom prst="ellipse">
            <a:avLst/>
          </a:prstGeom>
          <a:solidFill>
            <a:srgbClr val="394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1310" y="2539936"/>
            <a:ext cx="2506070" cy="2370607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639" y="2675399"/>
            <a:ext cx="2116613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00"/>
                </a:solidFill>
                <a:latin typeface="Josefin Sans"/>
              </a:rP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639" y="3047923"/>
            <a:ext cx="2167412" cy="1693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950" b="0">
                <a:solidFill>
                  <a:srgbClr val="FFFFFF"/>
                </a:solidFill>
                <a:latin typeface="Poppins"/>
              </a:rPr>
              <a:t>• Cross-chain invariant monitoring</a:t>
            </a:r>
          </a:p>
          <a:p>
            <a:pPr algn="l">
              <a:lnSpc>
                <a:spcPct val="180000"/>
              </a:lnSpc>
            </a:pPr>
            <a:r>
              <a:rPr sz="950" b="0">
                <a:solidFill>
                  <a:srgbClr val="FFFFFF"/>
                </a:solidFill>
                <a:latin typeface="Poppins"/>
              </a:rPr>
              <a:t>• Advanced fuzzing engine</a:t>
            </a:r>
          </a:p>
          <a:p>
            <a:pPr algn="l">
              <a:lnSpc>
                <a:spcPct val="180000"/>
              </a:lnSpc>
            </a:pPr>
            <a:r>
              <a:rPr sz="950" b="0">
                <a:solidFill>
                  <a:srgbClr val="FFFFFF"/>
                </a:solidFill>
                <a:latin typeface="Poppins"/>
              </a:rPr>
              <a:t>• Formal verification module</a:t>
            </a:r>
          </a:p>
        </p:txBody>
      </p:sp>
      <p:sp>
        <p:nvSpPr>
          <p:cNvPr id="12" name="Oval 11"/>
          <p:cNvSpPr/>
          <p:nvPr/>
        </p:nvSpPr>
        <p:spPr>
          <a:xfrm>
            <a:off x="4800479" y="2116613"/>
            <a:ext cx="152396" cy="152396"/>
          </a:xfrm>
          <a:prstGeom prst="ellipse">
            <a:avLst/>
          </a:prstGeom>
          <a:solidFill>
            <a:srgbClr val="394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23642" y="2539936"/>
            <a:ext cx="2506070" cy="2370607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2971" y="2675399"/>
            <a:ext cx="2116613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00"/>
                </a:solidFill>
                <a:latin typeface="Josefin Sans"/>
              </a:rP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2971" y="3047923"/>
            <a:ext cx="2167412" cy="1693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950" b="0">
                <a:solidFill>
                  <a:srgbClr val="FFFFFF"/>
                </a:solidFill>
                <a:latin typeface="Poppins"/>
              </a:rPr>
              <a:t>• MEV protection analysis</a:t>
            </a:r>
          </a:p>
          <a:p>
            <a:pPr algn="l">
              <a:lnSpc>
                <a:spcPct val="180000"/>
              </a:lnSpc>
            </a:pPr>
            <a:r>
              <a:rPr sz="950" b="0">
                <a:solidFill>
                  <a:srgbClr val="FFFFFF"/>
                </a:solidFill>
                <a:latin typeface="Poppins"/>
              </a:rPr>
              <a:t>• Gas optimization recommender</a:t>
            </a:r>
          </a:p>
          <a:p>
            <a:pPr algn="l">
              <a:lnSpc>
                <a:spcPct val="180000"/>
              </a:lnSpc>
            </a:pPr>
            <a:r>
              <a:rPr sz="950" b="0">
                <a:solidFill>
                  <a:srgbClr val="FFFFFF"/>
                </a:solidFill>
                <a:latin typeface="Poppins"/>
              </a:rPr>
              <a:t>• Custom rule creation SDK</a:t>
            </a:r>
          </a:p>
        </p:txBody>
      </p:sp>
      <p:sp>
        <p:nvSpPr>
          <p:cNvPr id="16" name="Oval 15"/>
          <p:cNvSpPr/>
          <p:nvPr/>
        </p:nvSpPr>
        <p:spPr>
          <a:xfrm>
            <a:off x="7492812" y="2116613"/>
            <a:ext cx="152396" cy="152396"/>
          </a:xfrm>
          <a:prstGeom prst="ellipse">
            <a:avLst/>
          </a:prstGeom>
          <a:solidFill>
            <a:srgbClr val="394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15975" y="2539936"/>
            <a:ext cx="2506070" cy="2370607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5304" y="2675399"/>
            <a:ext cx="2116613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00"/>
                </a:solidFill>
                <a:latin typeface="Josefin Sans"/>
              </a:rPr>
              <a:t>Q1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5304" y="3047923"/>
            <a:ext cx="2167412" cy="1693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950" b="0">
                <a:solidFill>
                  <a:srgbClr val="FFFFFF"/>
                </a:solidFill>
                <a:latin typeface="Poppins"/>
              </a:rPr>
              <a:t>• ZK-proof verification</a:t>
            </a:r>
          </a:p>
          <a:p>
            <a:pPr algn="l">
              <a:lnSpc>
                <a:spcPct val="180000"/>
              </a:lnSpc>
            </a:pPr>
            <a:r>
              <a:rPr sz="950" b="0">
                <a:solidFill>
                  <a:srgbClr val="FFFFFF"/>
                </a:solidFill>
                <a:latin typeface="Poppins"/>
              </a:rPr>
              <a:t>• Move language support</a:t>
            </a:r>
          </a:p>
          <a:p>
            <a:pPr algn="l">
              <a:lnSpc>
                <a:spcPct val="180000"/>
              </a:lnSpc>
            </a:pPr>
            <a:r>
              <a:rPr sz="950" b="0">
                <a:solidFill>
                  <a:srgbClr val="FFFFFF"/>
                </a:solidFill>
                <a:latin typeface="Poppins"/>
              </a:rPr>
              <a:t>• Automated exploit simulation</a:t>
            </a:r>
          </a:p>
        </p:txBody>
      </p:sp>
      <p:sp>
        <p:nvSpPr>
          <p:cNvPr id="20" name="Oval 19"/>
          <p:cNvSpPr/>
          <p:nvPr/>
        </p:nvSpPr>
        <p:spPr>
          <a:xfrm>
            <a:off x="10185145" y="2116613"/>
            <a:ext cx="152396" cy="152396"/>
          </a:xfrm>
          <a:prstGeom prst="ellipse">
            <a:avLst/>
          </a:prstGeom>
          <a:solidFill>
            <a:srgbClr val="3947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8308" y="2539936"/>
            <a:ext cx="2506070" cy="2370607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7637" y="2675399"/>
            <a:ext cx="2116613" cy="2201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00"/>
                </a:solidFill>
                <a:latin typeface="Josefin Sans"/>
              </a:rPr>
              <a:t>Q2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7637" y="3047923"/>
            <a:ext cx="2167412" cy="1693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950" b="0">
                <a:solidFill>
                  <a:srgbClr val="FFFFFF"/>
                </a:solidFill>
                <a:latin typeface="Poppins"/>
              </a:rPr>
              <a:t>• WASM contract support</a:t>
            </a:r>
          </a:p>
          <a:p>
            <a:pPr algn="l">
              <a:lnSpc>
                <a:spcPct val="180000"/>
              </a:lnSpc>
            </a:pPr>
            <a:r>
              <a:rPr sz="950" b="0">
                <a:solidFill>
                  <a:srgbClr val="FFFFFF"/>
                </a:solidFill>
                <a:latin typeface="Poppins"/>
              </a:rPr>
              <a:t>• AI exploit prediction</a:t>
            </a:r>
          </a:p>
          <a:p>
            <a:pPr algn="l">
              <a:lnSpc>
                <a:spcPct val="180000"/>
              </a:lnSpc>
            </a:pPr>
            <a:r>
              <a:rPr sz="950" b="0">
                <a:solidFill>
                  <a:srgbClr val="FFFFFF"/>
                </a:solidFill>
                <a:latin typeface="Poppins"/>
              </a:rPr>
              <a:t>• Decentralized audit marketplace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1310" y="5164537"/>
            <a:ext cx="10413739" cy="1100639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2EE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572" y="5283067"/>
            <a:ext cx="4233227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E6A8"/>
                </a:solidFill>
                <a:latin typeface="Josefin Sans"/>
              </a:rPr>
              <a:t>Long-Term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572" y="5604793"/>
            <a:ext cx="9990416" cy="5079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FFFFFF"/>
                </a:solidFill>
                <a:latin typeface="Poppins"/>
              </a:rPr>
              <a:t>A fully automated security layer for the entire blockchain ecosystem — every contract continuously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FFFFFF"/>
                </a:solidFill>
                <a:latin typeface="Poppins"/>
              </a:rPr>
              <a:t>monitored and protected against emerging threats in real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Team &amp; Why We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1310" y="1540894"/>
            <a:ext cx="4233227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TEAM UNFILTERED DEVS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1310" y="1862620"/>
            <a:ext cx="2506070" cy="1100639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30351" y="2015016"/>
            <a:ext cx="507987" cy="507987"/>
          </a:xfrm>
          <a:prstGeom prst="ellipse">
            <a:avLst/>
          </a:prstGeom>
          <a:solidFill>
            <a:srgbClr val="11111A"/>
          </a:solidFill>
          <a:ln w="20320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0351" y="2015016"/>
            <a:ext cx="507987" cy="5079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D893F2"/>
                </a:solidFill>
                <a:latin typeface="Josefin San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1310" y="2590735"/>
            <a:ext cx="2506070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Ajay Yadav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1310" y="2776997"/>
            <a:ext cx="2506070" cy="135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BDB7D0"/>
                </a:solidFill>
                <a:latin typeface="Poppins"/>
              </a:rPr>
              <a:t>Team Lead &amp; Frontend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3642" y="1862620"/>
            <a:ext cx="2506070" cy="1100639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22684" y="2015016"/>
            <a:ext cx="507987" cy="507987"/>
          </a:xfrm>
          <a:prstGeom prst="ellipse">
            <a:avLst/>
          </a:prstGeom>
          <a:solidFill>
            <a:srgbClr val="11111A"/>
          </a:solidFill>
          <a:ln w="20320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2684" y="2015016"/>
            <a:ext cx="507987" cy="5079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D893F2"/>
                </a:solidFill>
                <a:latin typeface="Josefin Sans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3642" y="2590735"/>
            <a:ext cx="2506070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Rangesh Gupta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642" y="2776997"/>
            <a:ext cx="2506070" cy="135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BDB7D0"/>
                </a:solidFill>
                <a:latin typeface="Poppins"/>
              </a:rPr>
              <a:t>AI/ML &amp; Backend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5975" y="1862620"/>
            <a:ext cx="2506070" cy="1100639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017" y="2015016"/>
            <a:ext cx="507987" cy="507987"/>
          </a:xfrm>
          <a:prstGeom prst="ellipse">
            <a:avLst/>
          </a:prstGeom>
          <a:solidFill>
            <a:srgbClr val="11111A"/>
          </a:solidFill>
          <a:ln w="20320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017" y="2015016"/>
            <a:ext cx="507987" cy="5079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D893F2"/>
                </a:solidFill>
                <a:latin typeface="Josefin Sans"/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975" y="2590735"/>
            <a:ext cx="2506070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Shivam Prajapati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5975" y="2776997"/>
            <a:ext cx="2506070" cy="135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BDB7D0"/>
                </a:solidFill>
                <a:latin typeface="Poppins"/>
              </a:rPr>
              <a:t>UI/UX &amp; Frontend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8308" y="1862620"/>
            <a:ext cx="2506070" cy="1100639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07349" y="2015016"/>
            <a:ext cx="507987" cy="507987"/>
          </a:xfrm>
          <a:prstGeom prst="ellipse">
            <a:avLst/>
          </a:prstGeom>
          <a:solidFill>
            <a:srgbClr val="11111A"/>
          </a:solidFill>
          <a:ln w="20320">
            <a:solidFill>
              <a:srgbClr val="D89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7349" y="2015016"/>
            <a:ext cx="507987" cy="5079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D893F2"/>
                </a:solidFill>
                <a:latin typeface="Josefin Sans"/>
              </a:rP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8308" y="2590735"/>
            <a:ext cx="2506070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Poornita Sahu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8308" y="2776997"/>
            <a:ext cx="2506070" cy="135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BDB7D0"/>
                </a:solidFill>
                <a:latin typeface="Poppins"/>
              </a:rPr>
              <a:t>Research &amp; Presentation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1310" y="3259585"/>
            <a:ext cx="10413739" cy="1396965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7572" y="3386582"/>
            <a:ext cx="4233227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893F2"/>
                </a:solidFill>
                <a:latin typeface="Josefin Sans"/>
              </a:rPr>
              <a:t>Why We 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572" y="3742173"/>
            <a:ext cx="9990416" cy="8466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•  Only platform combining static + symbolic + AI engines with continuous monitoring at SaaS pricing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•  Working product: Next.js dashboard, FastAPI backend, GitHub Action CI/CD — already scanning contracts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FFFFFF"/>
                </a:solidFill>
                <a:latin typeface="Poppins"/>
              </a:rPr>
              <a:t>•  AI fix suggestions close the loop from detection to remediation — a category first at this price point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1310" y="4910543"/>
            <a:ext cx="10413739" cy="1227635"/>
          </a:xfrm>
          <a:prstGeom prst="roundRect">
            <a:avLst>
              <a:gd name="adj" fmla="val 8000"/>
            </a:avLst>
          </a:prstGeom>
          <a:solidFill>
            <a:srgbClr val="11111A"/>
          </a:solidFill>
          <a:ln w="15875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7572" y="5046007"/>
            <a:ext cx="4233227" cy="23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00"/>
                </a:solidFill>
                <a:latin typeface="Josefin Sans"/>
              </a:rPr>
              <a:t>The 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7572" y="5401598"/>
            <a:ext cx="9990416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oppins"/>
              </a:rPr>
              <a:t>Raising to scale go-to-market, expand chain coverage, and grow the AI detection research team.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7572" y="5689457"/>
            <a:ext cx="9990416" cy="1693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DB7D0"/>
                </a:solidFill>
                <a:latin typeface="Poppins"/>
              </a:rPr>
              <a:t>Contact: team@auditai.io  •  auditai.io  •  github.com/securithm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0383" y="702715"/>
            <a:ext cx="10853995" cy="5689457"/>
          </a:xfrm>
          <a:prstGeom prst="roundRect">
            <a:avLst>
              <a:gd name="adj" fmla="val 4000"/>
            </a:avLst>
          </a:prstGeom>
          <a:noFill/>
          <a:ln w="27940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51119" y="186262"/>
            <a:ext cx="2946326" cy="711182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51119" y="186262"/>
            <a:ext cx="2946326" cy="7111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Josefin Sans"/>
              </a:rPr>
              <a:t>AUDITAI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310" y="812779"/>
            <a:ext cx="5079873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00"/>
                </a:solidFill>
                <a:latin typeface="Poppins"/>
              </a:rPr>
              <a:t>SECTION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1310" y="1015974"/>
            <a:ext cx="9313100" cy="38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Josefin Sans"/>
              </a:rPr>
              <a:t>References &amp; Disclosure of Existing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310" y="1650958"/>
            <a:ext cx="5079873" cy="93131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572" y="1803354"/>
            <a:ext cx="423322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893F2"/>
                </a:solidFill>
                <a:latin typeface="Poppi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961" y="1786422"/>
            <a:ext cx="4233227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SWC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3961" y="2040415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Smart Contract Weakness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3961" y="2260543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E6A8"/>
                </a:solidFill>
                <a:latin typeface="Poppins"/>
              </a:rPr>
              <a:t>swcregistry.io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5176" y="1650958"/>
            <a:ext cx="5079873" cy="93131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438" y="1803354"/>
            <a:ext cx="423322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893F2"/>
                </a:solidFill>
                <a:latin typeface="Poppi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7828" y="1786422"/>
            <a:ext cx="4233227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OWASP Smart Contract Top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828" y="2040415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Industry vulnerability 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7828" y="2260543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E6A8"/>
                </a:solidFill>
                <a:latin typeface="Poppins"/>
              </a:rPr>
              <a:t>owasp.org/www-project-smart-contract-top-10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1310" y="2751597"/>
            <a:ext cx="5079873" cy="93131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7572" y="2903994"/>
            <a:ext cx="423322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893F2"/>
                </a:solidFill>
                <a:latin typeface="Poppin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3961" y="2887061"/>
            <a:ext cx="4233227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Slither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3961" y="3141054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Static analysis framework 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3961" y="3361182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E6A8"/>
                </a:solidFill>
                <a:latin typeface="Poppins"/>
              </a:rPr>
              <a:t>github.com/crytic/slither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5176" y="2751597"/>
            <a:ext cx="5079873" cy="93131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1438" y="2903994"/>
            <a:ext cx="423322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893F2"/>
                </a:solidFill>
                <a:latin typeface="Poppin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828" y="2887061"/>
            <a:ext cx="4233227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Mythril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7828" y="3141054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Symbolic execution approach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7828" y="3361182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E6A8"/>
                </a:solidFill>
                <a:latin typeface="Poppins"/>
              </a:rPr>
              <a:t>github.com/Consensys/mythril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1310" y="3852237"/>
            <a:ext cx="5079873" cy="93131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7572" y="4004633"/>
            <a:ext cx="423322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893F2"/>
                </a:solidFill>
                <a:latin typeface="Poppin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3961" y="3987700"/>
            <a:ext cx="4233227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Rekt News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3961" y="4241693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DeFi attack database &amp; case studies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3961" y="4461821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E6A8"/>
                </a:solidFill>
                <a:latin typeface="Poppins"/>
              </a:rPr>
              <a:t>rekt.news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5176" y="3852237"/>
            <a:ext cx="5079873" cy="93131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1438" y="4004633"/>
            <a:ext cx="423322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893F2"/>
                </a:solidFill>
                <a:latin typeface="Poppin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7828" y="3987700"/>
            <a:ext cx="4233227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Certora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7828" y="4241693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Formal verification of smart contracts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7828" y="4461821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E6A8"/>
                </a:solidFill>
                <a:latin typeface="Poppins"/>
              </a:rPr>
              <a:t>certora.com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1310" y="4952876"/>
            <a:ext cx="5079873" cy="93131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7572" y="5105272"/>
            <a:ext cx="423322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893F2"/>
                </a:solidFill>
                <a:latin typeface="Poppin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3961" y="5088339"/>
            <a:ext cx="4233227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ZEUS / S-gram Research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3961" y="5342333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Academic smart-contract analysis papers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3961" y="5562460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E6A8"/>
                </a:solidFill>
                <a:latin typeface="Poppins"/>
              </a:rPr>
              <a:t>IEEE S&amp;P / ACM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5176" y="4952876"/>
            <a:ext cx="5079873" cy="931310"/>
          </a:xfrm>
          <a:prstGeom prst="roundRect">
            <a:avLst>
              <a:gd name="adj" fmla="val 8000"/>
            </a:avLst>
          </a:prstGeom>
          <a:solidFill>
            <a:srgbClr val="0B0B10"/>
          </a:solidFill>
          <a:ln w="15875">
            <a:solidFill>
              <a:srgbClr val="39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51438" y="5105272"/>
            <a:ext cx="423322" cy="1862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893F2"/>
                </a:solidFill>
                <a:latin typeface="Poppins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7828" y="5088339"/>
            <a:ext cx="4233227" cy="2031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Josefin Sans"/>
              </a:rPr>
              <a:t>Securithm Whitepaper v1.0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7828" y="5342333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BDB7D0"/>
                </a:solidFill>
                <a:latin typeface="Poppins"/>
              </a:rPr>
              <a:t>Full technical methodology document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7828" y="5562460"/>
            <a:ext cx="4233227" cy="152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EE6A8"/>
                </a:solidFill>
                <a:latin typeface="Poppins"/>
              </a:rPr>
              <a:t>securithm.com/whitepaper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AuditAI — AI-Powered Smart Contract Security Platform</dc:title>
  <dc:subject>Securithm SaaS Audit AI — Investor Pitch Deck</dc:subject>
  <dc:creator>Team Unfiltered Devs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