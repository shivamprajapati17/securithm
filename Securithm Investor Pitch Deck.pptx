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5336"/>
                </a:solidFill>
                <a:latin typeface="Azeret Mono"/>
                <a:cs typeface="Azeret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30272D"/>
                </a:solidFill>
                <a:latin typeface="Muli"/>
                <a:cs typeface="Muli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dirty="0" spc="19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5336"/>
                </a:solidFill>
                <a:latin typeface="Azeret Mono"/>
                <a:cs typeface="Azeret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30272D"/>
                </a:solidFill>
                <a:latin typeface="Muli"/>
                <a:cs typeface="Muli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dirty="0" spc="19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620476" y="2627092"/>
            <a:ext cx="4779645" cy="4467860"/>
          </a:xfrm>
          <a:custGeom>
            <a:avLst/>
            <a:gdLst/>
            <a:ahLst/>
            <a:cxnLst/>
            <a:rect l="l" t="t" r="r" b="b"/>
            <a:pathLst>
              <a:path w="4779644" h="4467859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4324540"/>
                </a:lnTo>
                <a:lnTo>
                  <a:pt x="292" y="4333887"/>
                </a:lnTo>
                <a:lnTo>
                  <a:pt x="9982" y="4377055"/>
                </a:lnTo>
                <a:lnTo>
                  <a:pt x="33909" y="4416983"/>
                </a:lnTo>
                <a:lnTo>
                  <a:pt x="71424" y="4448289"/>
                </a:lnTo>
                <a:lnTo>
                  <a:pt x="117297" y="4465129"/>
                </a:lnTo>
                <a:lnTo>
                  <a:pt x="4636490" y="4467415"/>
                </a:lnTo>
                <a:lnTo>
                  <a:pt x="4643501" y="4467250"/>
                </a:lnTo>
                <a:lnTo>
                  <a:pt x="4686820" y="4458271"/>
                </a:lnTo>
                <a:lnTo>
                  <a:pt x="4723472" y="4437900"/>
                </a:lnTo>
                <a:lnTo>
                  <a:pt x="4752632" y="4407776"/>
                </a:lnTo>
                <a:lnTo>
                  <a:pt x="4772533" y="4368253"/>
                </a:lnTo>
                <a:lnTo>
                  <a:pt x="4779365" y="142875"/>
                </a:lnTo>
                <a:lnTo>
                  <a:pt x="4779073" y="133527"/>
                </a:lnTo>
                <a:lnTo>
                  <a:pt x="4767592" y="86042"/>
                </a:lnTo>
                <a:lnTo>
                  <a:pt x="4740783" y="45199"/>
                </a:lnTo>
                <a:lnTo>
                  <a:pt x="4707928" y="19126"/>
                </a:lnTo>
                <a:lnTo>
                  <a:pt x="4662068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FF53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768405" y="2627092"/>
            <a:ext cx="4779645" cy="4467860"/>
          </a:xfrm>
          <a:custGeom>
            <a:avLst/>
            <a:gdLst/>
            <a:ahLst/>
            <a:cxnLst/>
            <a:rect l="l" t="t" r="r" b="b"/>
            <a:pathLst>
              <a:path w="4779645" h="4467859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4324540"/>
                </a:lnTo>
                <a:lnTo>
                  <a:pt x="292" y="4333887"/>
                </a:lnTo>
                <a:lnTo>
                  <a:pt x="9982" y="4377055"/>
                </a:lnTo>
                <a:lnTo>
                  <a:pt x="33909" y="4416983"/>
                </a:lnTo>
                <a:lnTo>
                  <a:pt x="71424" y="4448289"/>
                </a:lnTo>
                <a:lnTo>
                  <a:pt x="117297" y="4465129"/>
                </a:lnTo>
                <a:lnTo>
                  <a:pt x="4636490" y="4467415"/>
                </a:lnTo>
                <a:lnTo>
                  <a:pt x="4643501" y="4467250"/>
                </a:lnTo>
                <a:lnTo>
                  <a:pt x="4686820" y="4458271"/>
                </a:lnTo>
                <a:lnTo>
                  <a:pt x="4723472" y="4437900"/>
                </a:lnTo>
                <a:lnTo>
                  <a:pt x="4752632" y="4407776"/>
                </a:lnTo>
                <a:lnTo>
                  <a:pt x="4772520" y="4368253"/>
                </a:lnTo>
                <a:lnTo>
                  <a:pt x="4779365" y="142875"/>
                </a:lnTo>
                <a:lnTo>
                  <a:pt x="4779073" y="133527"/>
                </a:lnTo>
                <a:lnTo>
                  <a:pt x="4767592" y="86042"/>
                </a:lnTo>
                <a:lnTo>
                  <a:pt x="4743919" y="48653"/>
                </a:lnTo>
                <a:lnTo>
                  <a:pt x="4707928" y="19126"/>
                </a:lnTo>
                <a:lnTo>
                  <a:pt x="4662055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FF53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6334" y="2627092"/>
            <a:ext cx="4779645" cy="4467860"/>
          </a:xfrm>
          <a:custGeom>
            <a:avLst/>
            <a:gdLst/>
            <a:ahLst/>
            <a:cxnLst/>
            <a:rect l="l" t="t" r="r" b="b"/>
            <a:pathLst>
              <a:path w="4779645" h="4467859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4324540"/>
                </a:lnTo>
                <a:lnTo>
                  <a:pt x="292" y="4333887"/>
                </a:lnTo>
                <a:lnTo>
                  <a:pt x="9982" y="4377055"/>
                </a:lnTo>
                <a:lnTo>
                  <a:pt x="33909" y="4416983"/>
                </a:lnTo>
                <a:lnTo>
                  <a:pt x="71424" y="4448289"/>
                </a:lnTo>
                <a:lnTo>
                  <a:pt x="117297" y="4465129"/>
                </a:lnTo>
                <a:lnTo>
                  <a:pt x="4636477" y="4467415"/>
                </a:lnTo>
                <a:lnTo>
                  <a:pt x="4643501" y="4467250"/>
                </a:lnTo>
                <a:lnTo>
                  <a:pt x="4686820" y="4458271"/>
                </a:lnTo>
                <a:lnTo>
                  <a:pt x="4728933" y="4433506"/>
                </a:lnTo>
                <a:lnTo>
                  <a:pt x="4756581" y="4401972"/>
                </a:lnTo>
                <a:lnTo>
                  <a:pt x="4773891" y="4363770"/>
                </a:lnTo>
                <a:lnTo>
                  <a:pt x="4779352" y="142875"/>
                </a:lnTo>
                <a:lnTo>
                  <a:pt x="4779073" y="133527"/>
                </a:lnTo>
                <a:lnTo>
                  <a:pt x="4767592" y="86042"/>
                </a:lnTo>
                <a:lnTo>
                  <a:pt x="4743919" y="48653"/>
                </a:lnTo>
                <a:lnTo>
                  <a:pt x="4707928" y="19126"/>
                </a:lnTo>
                <a:lnTo>
                  <a:pt x="4662055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FF53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470" y="5840107"/>
            <a:ext cx="4779010" cy="3124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5336"/>
                </a:solidFill>
                <a:latin typeface="Azeret Mono"/>
                <a:cs typeface="Azeret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30272D"/>
                </a:solidFill>
                <a:latin typeface="Muli"/>
                <a:cs typeface="Muli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dirty="0" spc="19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53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5336"/>
                </a:solidFill>
                <a:latin typeface="Azeret Mono"/>
                <a:cs typeface="Azeret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30272D"/>
                </a:solidFill>
                <a:latin typeface="Muli"/>
                <a:cs typeface="Muli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dirty="0" spc="19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30272D"/>
                </a:solidFill>
                <a:latin typeface="Muli"/>
                <a:cs typeface="Muli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dirty="0" spc="19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3462" y="1194255"/>
            <a:ext cx="16481074" cy="9464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5336"/>
                </a:solidFill>
                <a:latin typeface="Azeret Mono"/>
                <a:cs typeface="Azeret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7352" y="4335028"/>
            <a:ext cx="16551910" cy="2887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03485" y="9392113"/>
            <a:ext cx="1049655" cy="328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30272D"/>
                </a:solidFill>
                <a:latin typeface="Muli"/>
                <a:cs typeface="Muli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dirty="0" spc="19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3471" y="513962"/>
            <a:ext cx="10953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Muli"/>
                <a:cs typeface="Muli"/>
              </a:rPr>
              <a:t>8/9/2026</a:t>
            </a:r>
            <a:endParaRPr sz="1900">
              <a:latin typeface="Muli"/>
              <a:cs typeface="Mul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471" y="9393319"/>
            <a:ext cx="21672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Muli"/>
                <a:cs typeface="Muli"/>
              </a:rPr>
              <a:t>Shivam</a:t>
            </a:r>
            <a:r>
              <a:rPr dirty="0" sz="1900" spc="15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FFFFFF"/>
                </a:solidFill>
                <a:latin typeface="Muli"/>
                <a:cs typeface="Muli"/>
              </a:rPr>
              <a:t>&amp;</a:t>
            </a:r>
            <a:r>
              <a:rPr dirty="0" sz="1900" spc="160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Muli"/>
                <a:cs typeface="Muli"/>
              </a:rPr>
              <a:t>Satyam</a:t>
            </a:r>
            <a:endParaRPr sz="1900">
              <a:latin typeface="Muli"/>
              <a:cs typeface="Mul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3471" y="3315383"/>
            <a:ext cx="10463530" cy="5251450"/>
          </a:xfrm>
          <a:prstGeom prst="rect"/>
        </p:spPr>
        <p:txBody>
          <a:bodyPr wrap="square" lIns="0" tIns="243840" rIns="0" bIns="0" rtlCol="0" vert="horz">
            <a:spAutoFit/>
          </a:bodyPr>
          <a:lstStyle/>
          <a:p>
            <a:pPr marL="12700" marR="734695">
              <a:lnSpc>
                <a:spcPts val="9100"/>
              </a:lnSpc>
              <a:spcBef>
                <a:spcPts val="1920"/>
              </a:spcBef>
            </a:pPr>
            <a:r>
              <a:rPr dirty="0" sz="9100" spc="-465">
                <a:solidFill>
                  <a:srgbClr val="FFFFFF"/>
                </a:solidFill>
                <a:latin typeface="Azeret Mono"/>
                <a:cs typeface="Azeret Mono"/>
              </a:rPr>
              <a:t>Securithm </a:t>
            </a:r>
            <a:r>
              <a:rPr dirty="0" sz="9100" spc="-400">
                <a:solidFill>
                  <a:srgbClr val="FFFFFF"/>
                </a:solidFill>
                <a:latin typeface="Azeret Mono"/>
                <a:cs typeface="Azeret Mono"/>
              </a:rPr>
              <a:t>Investor</a:t>
            </a:r>
            <a:r>
              <a:rPr dirty="0" sz="9100" spc="-894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z="9100" spc="-465">
                <a:solidFill>
                  <a:srgbClr val="FFFFFF"/>
                </a:solidFill>
                <a:latin typeface="Azeret Mono"/>
                <a:cs typeface="Azeret Mono"/>
              </a:rPr>
              <a:t>Pitch </a:t>
            </a:r>
            <a:r>
              <a:rPr dirty="0" sz="9100" spc="-475">
                <a:solidFill>
                  <a:srgbClr val="FFFFFF"/>
                </a:solidFill>
                <a:latin typeface="Azeret Mono"/>
                <a:cs typeface="Azeret Mono"/>
              </a:rPr>
              <a:t>Deck</a:t>
            </a:r>
            <a:endParaRPr sz="9100">
              <a:latin typeface="Azeret Mono"/>
              <a:cs typeface="Azeret Mono"/>
            </a:endParaRPr>
          </a:p>
          <a:p>
            <a:pPr marL="12700" marR="5080">
              <a:lnSpc>
                <a:spcPct val="100000"/>
              </a:lnSpc>
              <a:spcBef>
                <a:spcPts val="1945"/>
              </a:spcBef>
            </a:pPr>
            <a:r>
              <a:rPr dirty="0" sz="4200" spc="105" b="1">
                <a:solidFill>
                  <a:srgbClr val="FFFFFF"/>
                </a:solidFill>
                <a:latin typeface="Muli"/>
                <a:cs typeface="Muli"/>
              </a:rPr>
              <a:t>AI-</a:t>
            </a:r>
            <a:r>
              <a:rPr dirty="0" sz="4200" spc="60" b="1">
                <a:solidFill>
                  <a:srgbClr val="FFFFFF"/>
                </a:solidFill>
                <a:latin typeface="Muli"/>
                <a:cs typeface="Muli"/>
              </a:rPr>
              <a:t>powered</a:t>
            </a:r>
            <a:r>
              <a:rPr dirty="0" sz="4200" spc="220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4200" spc="120" b="1">
                <a:solidFill>
                  <a:srgbClr val="FFFFFF"/>
                </a:solidFill>
                <a:latin typeface="Muli"/>
                <a:cs typeface="Muli"/>
              </a:rPr>
              <a:t>smart</a:t>
            </a:r>
            <a:r>
              <a:rPr dirty="0" sz="4200" spc="22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4200" spc="65" b="1">
                <a:solidFill>
                  <a:srgbClr val="FFFFFF"/>
                </a:solidFill>
                <a:latin typeface="Muli"/>
                <a:cs typeface="Muli"/>
              </a:rPr>
              <a:t>contract</a:t>
            </a:r>
            <a:r>
              <a:rPr dirty="0" sz="4200" spc="22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4200" spc="95" b="1">
                <a:solidFill>
                  <a:srgbClr val="FFFFFF"/>
                </a:solidFill>
                <a:latin typeface="Muli"/>
                <a:cs typeface="Muli"/>
              </a:rPr>
              <a:t>security</a:t>
            </a:r>
            <a:r>
              <a:rPr dirty="0" sz="4200" spc="22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4200" spc="55" b="1">
                <a:solidFill>
                  <a:srgbClr val="FFFFFF"/>
                </a:solidFill>
                <a:latin typeface="Muli"/>
                <a:cs typeface="Muli"/>
              </a:rPr>
              <a:t>for </a:t>
            </a:r>
            <a:r>
              <a:rPr dirty="0" sz="4200" spc="65" b="1">
                <a:solidFill>
                  <a:srgbClr val="FFFFFF"/>
                </a:solidFill>
                <a:latin typeface="Muli"/>
                <a:cs typeface="Muli"/>
              </a:rPr>
              <a:t>faster,</a:t>
            </a:r>
            <a:r>
              <a:rPr dirty="0" sz="4200" spc="21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4200" spc="70" b="1">
                <a:solidFill>
                  <a:srgbClr val="FFFFFF"/>
                </a:solidFill>
                <a:latin typeface="Muli"/>
                <a:cs typeface="Muli"/>
              </a:rPr>
              <a:t>safer</a:t>
            </a:r>
            <a:r>
              <a:rPr dirty="0" sz="4200" spc="220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4200" b="1">
                <a:solidFill>
                  <a:srgbClr val="FFFFFF"/>
                </a:solidFill>
                <a:latin typeface="Muli"/>
                <a:cs typeface="Muli"/>
              </a:rPr>
              <a:t>Web3</a:t>
            </a:r>
            <a:r>
              <a:rPr dirty="0" sz="4200" spc="21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4200" spc="90" b="1">
                <a:solidFill>
                  <a:srgbClr val="FFFFFF"/>
                </a:solidFill>
                <a:latin typeface="Muli"/>
                <a:cs typeface="Muli"/>
              </a:rPr>
              <a:t>deployment</a:t>
            </a:r>
            <a:endParaRPr sz="42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3471" y="9392188"/>
            <a:ext cx="1012190" cy="3282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02</a:t>
            </a:r>
            <a:endParaRPr sz="1900">
              <a:latin typeface="Muli"/>
              <a:cs typeface="Mul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10">
                <a:latin typeface="Azeret Mono"/>
                <a:cs typeface="Azeret Mono"/>
              </a:rPr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7717" y="2716699"/>
            <a:ext cx="5483225" cy="181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1490" indent="-478790">
              <a:lnSpc>
                <a:spcPct val="100000"/>
              </a:lnSpc>
              <a:spcBef>
                <a:spcPts val="100"/>
              </a:spcBef>
              <a:buFont typeface="Muli"/>
              <a:buAutoNum type="arabicPeriod"/>
              <a:tabLst>
                <a:tab pos="491490" algn="l"/>
              </a:tabLst>
            </a:pPr>
            <a:r>
              <a:rPr dirty="0" sz="2800" spc="45" b="1">
                <a:solidFill>
                  <a:srgbClr val="30272D"/>
                </a:solidFill>
                <a:latin typeface="Muli"/>
                <a:cs typeface="Muli"/>
              </a:rPr>
              <a:t>Problem</a:t>
            </a:r>
            <a:r>
              <a:rPr dirty="0" sz="2800" spc="200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800" spc="200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800" spc="45" b="1">
                <a:solidFill>
                  <a:srgbClr val="30272D"/>
                </a:solidFill>
                <a:latin typeface="Muli"/>
                <a:cs typeface="Muli"/>
              </a:rPr>
              <a:t>Solution</a:t>
            </a:r>
            <a:endParaRPr sz="2800">
              <a:latin typeface="Muli"/>
              <a:cs typeface="Muli"/>
            </a:endParaRPr>
          </a:p>
          <a:p>
            <a:pPr marL="492125" indent="-479425">
              <a:lnSpc>
                <a:spcPct val="100000"/>
              </a:lnSpc>
              <a:spcBef>
                <a:spcPts val="2000"/>
              </a:spcBef>
              <a:buFont typeface="Muli"/>
              <a:buAutoNum type="arabicPeriod"/>
              <a:tabLst>
                <a:tab pos="492125" algn="l"/>
              </a:tabLst>
            </a:pPr>
            <a:r>
              <a:rPr dirty="0" sz="2800" b="1">
                <a:solidFill>
                  <a:srgbClr val="30272D"/>
                </a:solidFill>
                <a:latin typeface="Muli"/>
                <a:cs typeface="Muli"/>
              </a:rPr>
              <a:t>Market</a:t>
            </a:r>
            <a:r>
              <a:rPr dirty="0" sz="2800" spc="32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800" spc="32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800" spc="60" b="1">
                <a:solidFill>
                  <a:srgbClr val="30272D"/>
                </a:solidFill>
                <a:latin typeface="Muli"/>
                <a:cs typeface="Muli"/>
              </a:rPr>
              <a:t>Business</a:t>
            </a:r>
            <a:endParaRPr sz="2800">
              <a:latin typeface="Muli"/>
              <a:cs typeface="Muli"/>
            </a:endParaRPr>
          </a:p>
          <a:p>
            <a:pPr marL="491490" indent="-478790">
              <a:lnSpc>
                <a:spcPct val="100000"/>
              </a:lnSpc>
              <a:spcBef>
                <a:spcPts val="1995"/>
              </a:spcBef>
              <a:buFont typeface="Muli"/>
              <a:buAutoNum type="arabicPeriod"/>
              <a:tabLst>
                <a:tab pos="491490" algn="l"/>
              </a:tabLst>
            </a:pPr>
            <a:r>
              <a:rPr dirty="0" sz="2800" b="1">
                <a:solidFill>
                  <a:srgbClr val="30272D"/>
                </a:solidFill>
                <a:latin typeface="Muli"/>
                <a:cs typeface="Muli"/>
              </a:rPr>
              <a:t>Go</a:t>
            </a:r>
            <a:r>
              <a:rPr dirty="0" sz="2800" spc="190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30272D"/>
                </a:solidFill>
                <a:latin typeface="Muli"/>
                <a:cs typeface="Muli"/>
              </a:rPr>
              <a:t>To</a:t>
            </a:r>
            <a:r>
              <a:rPr dirty="0" sz="28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30272D"/>
                </a:solidFill>
                <a:latin typeface="Muli"/>
                <a:cs typeface="Muli"/>
              </a:rPr>
              <a:t>Market</a:t>
            </a:r>
            <a:r>
              <a:rPr dirty="0" sz="28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8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800" spc="40" b="1">
                <a:solidFill>
                  <a:srgbClr val="30272D"/>
                </a:solidFill>
                <a:latin typeface="Muli"/>
                <a:cs typeface="Muli"/>
              </a:rPr>
              <a:t>Roadmap</a:t>
            </a:r>
            <a:endParaRPr sz="28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3467" y="6836007"/>
            <a:ext cx="91948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>
                <a:solidFill>
                  <a:srgbClr val="FFFFFF"/>
                </a:solidFill>
                <a:latin typeface="Azeret Mono"/>
                <a:cs typeface="Azeret Mono"/>
              </a:rPr>
              <a:t>Problem</a:t>
            </a:r>
            <a:r>
              <a:rPr dirty="0" spc="-710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pc="-120">
                <a:solidFill>
                  <a:srgbClr val="FFFFFF"/>
                </a:solidFill>
                <a:latin typeface="Azeret Mono"/>
                <a:cs typeface="Azeret Mono"/>
              </a:rPr>
              <a:t>and</a:t>
            </a:r>
            <a:r>
              <a:rPr dirty="0" spc="-710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pc="-310">
                <a:solidFill>
                  <a:srgbClr val="FFFFFF"/>
                </a:solidFill>
                <a:latin typeface="Azeret Mono"/>
                <a:cs typeface="Azeret Mono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3467" y="9392188"/>
            <a:ext cx="1011555" cy="3282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FFFFFF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FFFFFF"/>
                </a:solidFill>
                <a:latin typeface="Muli"/>
                <a:cs typeface="Muli"/>
              </a:rPr>
              <a:t>03</a:t>
            </a:r>
            <a:endParaRPr sz="19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0061" y="3520275"/>
            <a:ext cx="8647917" cy="576205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3485" y="513962"/>
            <a:ext cx="26257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Problem</a:t>
            </a:r>
            <a:r>
              <a:rPr dirty="0" sz="1900" spc="204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204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Solution</a:t>
            </a:r>
            <a:endParaRPr sz="1900">
              <a:latin typeface="Muli"/>
              <a:cs typeface="Mul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3485" y="9392113"/>
            <a:ext cx="1011555" cy="3282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04</a:t>
            </a:r>
            <a:endParaRPr sz="1900">
              <a:latin typeface="Muli"/>
              <a:cs typeface="Mul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>
                <a:latin typeface="Azeret Mono"/>
                <a:cs typeface="Azeret Mono"/>
              </a:rPr>
              <a:t>Why</a:t>
            </a:r>
            <a:r>
              <a:rPr dirty="0" spc="-715">
                <a:latin typeface="Azeret Mono"/>
                <a:cs typeface="Azeret Mono"/>
              </a:rPr>
              <a:t> </a:t>
            </a:r>
            <a:r>
              <a:rPr dirty="0" spc="-270">
                <a:latin typeface="Azeret Mono"/>
                <a:cs typeface="Azeret Mono"/>
              </a:rPr>
              <a:t>Securithm</a:t>
            </a:r>
            <a:r>
              <a:rPr dirty="0" spc="-705">
                <a:latin typeface="Azeret Mono"/>
                <a:cs typeface="Azeret Mono"/>
              </a:rPr>
              <a:t> </a:t>
            </a:r>
            <a:r>
              <a:rPr dirty="0" spc="-310">
                <a:latin typeface="Azeret Mono"/>
                <a:cs typeface="Azeret Mono"/>
              </a:rPr>
              <a:t>Matters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3485" y="3456371"/>
            <a:ext cx="7090409" cy="453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Prevent</a:t>
            </a:r>
            <a:r>
              <a:rPr dirty="0" sz="2800" spc="29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55" b="1">
                <a:solidFill>
                  <a:srgbClr val="520E3A"/>
                </a:solidFill>
                <a:latin typeface="Muli"/>
                <a:cs typeface="Muli"/>
              </a:rPr>
              <a:t>losses</a:t>
            </a:r>
            <a:r>
              <a:rPr dirty="0" sz="2800" spc="29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before</a:t>
            </a:r>
            <a:r>
              <a:rPr dirty="0" sz="2800" spc="29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45" b="1">
                <a:solidFill>
                  <a:srgbClr val="520E3A"/>
                </a:solidFill>
                <a:latin typeface="Muli"/>
                <a:cs typeface="Muli"/>
              </a:rPr>
              <a:t>launch</a:t>
            </a:r>
            <a:endParaRPr sz="2800">
              <a:latin typeface="Muli"/>
              <a:cs typeface="Muli"/>
            </a:endParaRPr>
          </a:p>
          <a:p>
            <a:pPr marL="12700" marR="5080">
              <a:lnSpc>
                <a:spcPct val="100000"/>
              </a:lnSpc>
              <a:spcBef>
                <a:spcPts val="1840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Securithm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surfaces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smart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contract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risks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before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code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reaches mainnet.</a:t>
            </a:r>
            <a:endParaRPr sz="2000">
              <a:latin typeface="Muli"/>
              <a:cs typeface="Mul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000">
              <a:latin typeface="Muli"/>
              <a:cs typeface="Muli"/>
            </a:endParaRPr>
          </a:p>
          <a:p>
            <a:pPr marL="12700">
              <a:lnSpc>
                <a:spcPct val="100000"/>
              </a:lnSpc>
            </a:pPr>
            <a:r>
              <a:rPr dirty="0" sz="2800" spc="50" b="1">
                <a:solidFill>
                  <a:srgbClr val="520E3A"/>
                </a:solidFill>
                <a:latin typeface="Muli"/>
                <a:cs typeface="Muli"/>
              </a:rPr>
              <a:t>Security</a:t>
            </a:r>
            <a:r>
              <a:rPr dirty="0" sz="2800" spc="14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55" b="1">
                <a:solidFill>
                  <a:srgbClr val="520E3A"/>
                </a:solidFill>
                <a:latin typeface="Muli"/>
                <a:cs typeface="Muli"/>
              </a:rPr>
              <a:t>built</a:t>
            </a:r>
            <a:r>
              <a:rPr dirty="0" sz="2800" spc="14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50" b="1">
                <a:solidFill>
                  <a:srgbClr val="520E3A"/>
                </a:solidFill>
                <a:latin typeface="Muli"/>
                <a:cs typeface="Muli"/>
              </a:rPr>
              <a:t>into</a:t>
            </a:r>
            <a:r>
              <a:rPr dirty="0" sz="2800" spc="15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60" b="1">
                <a:solidFill>
                  <a:srgbClr val="520E3A"/>
                </a:solidFill>
                <a:latin typeface="Muli"/>
                <a:cs typeface="Muli"/>
              </a:rPr>
              <a:t>shipping</a:t>
            </a:r>
            <a:endParaRPr sz="2800">
              <a:latin typeface="Muli"/>
              <a:cs typeface="Muli"/>
            </a:endParaRPr>
          </a:p>
          <a:p>
            <a:pPr marL="12700" marR="46990">
              <a:lnSpc>
                <a:spcPct val="100000"/>
              </a:lnSpc>
              <a:spcBef>
                <a:spcPts val="1840"/>
              </a:spcBef>
            </a:pP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Developer-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friendly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workflows</a:t>
            </a:r>
            <a:r>
              <a:rPr dirty="0" sz="2000" spc="-1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make</a:t>
            </a:r>
            <a:r>
              <a:rPr dirty="0" sz="2000" spc="-1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checks</a:t>
            </a:r>
            <a:r>
              <a:rPr dirty="0" sz="2000" spc="-1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part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of</a:t>
            </a:r>
            <a:r>
              <a:rPr dirty="0" sz="2000" spc="-1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everyday development.</a:t>
            </a:r>
            <a:endParaRPr sz="2000">
              <a:latin typeface="Muli"/>
              <a:cs typeface="Mul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000">
              <a:latin typeface="Muli"/>
              <a:cs typeface="Muli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Faster,</a:t>
            </a:r>
            <a:r>
              <a:rPr dirty="0" sz="2800" spc="409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cheaper,</a:t>
            </a:r>
            <a:r>
              <a:rPr dirty="0" sz="2800" spc="409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higher</a:t>
            </a:r>
            <a:r>
              <a:rPr dirty="0" sz="2800" spc="409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trust</a:t>
            </a:r>
            <a:endParaRPr sz="2800">
              <a:latin typeface="Muli"/>
              <a:cs typeface="Muli"/>
            </a:endParaRPr>
          </a:p>
          <a:p>
            <a:pPr marL="12700" marR="254635">
              <a:lnSpc>
                <a:spcPct val="100000"/>
              </a:lnSpc>
              <a:spcBef>
                <a:spcPts val="1840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Cut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delays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audit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burden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while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strengthening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on-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chain confidence.</a:t>
            </a:r>
            <a:endParaRPr sz="20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0186" y="2928785"/>
            <a:ext cx="4829759" cy="3124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8328" y="2928785"/>
            <a:ext cx="4829759" cy="3124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470" y="2928785"/>
            <a:ext cx="4829759" cy="3124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3485" y="513962"/>
            <a:ext cx="26257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Problem</a:t>
            </a:r>
            <a:r>
              <a:rPr dirty="0" sz="1900" spc="204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204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Solution</a:t>
            </a:r>
            <a:endParaRPr sz="1900">
              <a:latin typeface="Muli"/>
              <a:cs typeface="Mul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3485" y="9392113"/>
            <a:ext cx="1011555" cy="3282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05</a:t>
            </a:r>
            <a:endParaRPr sz="1900">
              <a:latin typeface="Muli"/>
              <a:cs typeface="Mul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>
                <a:latin typeface="Azeret Mono"/>
                <a:cs typeface="Azeret Mono"/>
              </a:rPr>
              <a:t>The</a:t>
            </a:r>
            <a:r>
              <a:rPr dirty="0" spc="-710">
                <a:latin typeface="Azeret Mono"/>
                <a:cs typeface="Azeret Mono"/>
              </a:rPr>
              <a:t> </a:t>
            </a:r>
            <a:r>
              <a:rPr dirty="0" spc="-265">
                <a:latin typeface="Azeret Mono"/>
                <a:cs typeface="Azeret Mono"/>
              </a:rPr>
              <a:t>Security</a:t>
            </a:r>
            <a:r>
              <a:rPr dirty="0" spc="-710">
                <a:latin typeface="Azeret Mono"/>
                <a:cs typeface="Azeret Mono"/>
              </a:rPr>
              <a:t> </a:t>
            </a:r>
            <a:r>
              <a:rPr dirty="0" spc="-325">
                <a:latin typeface="Azeret Mono"/>
                <a:cs typeface="Azeret Mono"/>
              </a:rPr>
              <a:t>Gap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47202" y="6270531"/>
            <a:ext cx="4732020" cy="2395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2484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No</a:t>
            </a:r>
            <a:r>
              <a:rPr dirty="0" sz="2800" spc="-9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continuous</a:t>
            </a:r>
            <a:r>
              <a:rPr dirty="0" sz="2800" spc="-9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feedback </a:t>
            </a:r>
            <a:r>
              <a:rPr dirty="0" sz="2800" spc="-20" b="1">
                <a:solidFill>
                  <a:srgbClr val="520E3A"/>
                </a:solidFill>
                <a:latin typeface="Muli"/>
                <a:cs typeface="Muli"/>
              </a:rPr>
              <a:t>loop</a:t>
            </a:r>
            <a:endParaRPr sz="2800">
              <a:latin typeface="Muli"/>
              <a:cs typeface="Muli"/>
            </a:endParaRPr>
          </a:p>
          <a:p>
            <a:pPr marL="228600" marR="543560" indent="-216535">
              <a:lnSpc>
                <a:spcPct val="100000"/>
              </a:lnSpc>
              <a:spcBef>
                <a:spcPts val="184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Developers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lack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fast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signals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while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writing</a:t>
            </a:r>
            <a:r>
              <a:rPr dirty="0" sz="2000" spc="-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changing</a:t>
            </a:r>
            <a:r>
              <a:rPr dirty="0" sz="2000" spc="-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code.</a:t>
            </a:r>
            <a:endParaRPr sz="2000">
              <a:latin typeface="Muli"/>
              <a:cs typeface="Muli"/>
            </a:endParaRPr>
          </a:p>
          <a:p>
            <a:pPr marL="228600" marR="5080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Security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becomes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last-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step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gate,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not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 daily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workflow.</a:t>
            </a:r>
            <a:endParaRPr sz="2000">
              <a:latin typeface="Muli"/>
              <a:cs typeface="Mul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5344" y="6270531"/>
            <a:ext cx="4765040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Audits</a:t>
            </a:r>
            <a:r>
              <a:rPr dirty="0" sz="2800" spc="-8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arrive</a:t>
            </a:r>
            <a:r>
              <a:rPr dirty="0" sz="2800" spc="-8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too</a:t>
            </a:r>
            <a:r>
              <a:rPr dirty="0" sz="2800" spc="-8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20" b="1">
                <a:solidFill>
                  <a:srgbClr val="520E3A"/>
                </a:solidFill>
                <a:latin typeface="Muli"/>
                <a:cs typeface="Muli"/>
              </a:rPr>
              <a:t>late</a:t>
            </a:r>
            <a:endParaRPr sz="2800">
              <a:latin typeface="Muli"/>
              <a:cs typeface="Muli"/>
            </a:endParaRPr>
          </a:p>
          <a:p>
            <a:pPr marL="228600" marR="219710" indent="-216535">
              <a:lnSpc>
                <a:spcPct val="100000"/>
              </a:lnSpc>
              <a:spcBef>
                <a:spcPts val="184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Manual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reviews</a:t>
            </a:r>
            <a:r>
              <a:rPr dirty="0" sz="2000" spc="-4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take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weeks</a:t>
            </a:r>
            <a:r>
              <a:rPr dirty="0" sz="2000" spc="-4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stall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critical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shipping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timelines.</a:t>
            </a:r>
            <a:endParaRPr sz="2000">
              <a:latin typeface="Muli"/>
              <a:cs typeface="Muli"/>
            </a:endParaRPr>
          </a:p>
          <a:p>
            <a:pPr marL="228600" marR="5080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High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cost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forces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teams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to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audit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less,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or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only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once.</a:t>
            </a:r>
            <a:endParaRPr sz="2000">
              <a:latin typeface="Muli"/>
              <a:cs typeface="Mul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485" y="6270531"/>
            <a:ext cx="4441825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Exploits</a:t>
            </a:r>
            <a:r>
              <a:rPr dirty="0" sz="2800" spc="-3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are</a:t>
            </a:r>
            <a:r>
              <a:rPr dirty="0" sz="2800" spc="-3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still</a:t>
            </a:r>
            <a:r>
              <a:rPr dirty="0" sz="2800" spc="-3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winning</a:t>
            </a:r>
            <a:endParaRPr sz="2800">
              <a:latin typeface="Muli"/>
              <a:cs typeface="Muli"/>
            </a:endParaRPr>
          </a:p>
          <a:p>
            <a:pPr marL="228600" marR="5080" indent="-216535">
              <a:lnSpc>
                <a:spcPct val="100000"/>
              </a:lnSpc>
              <a:spcBef>
                <a:spcPts val="184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Contract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bugs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keep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turning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into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real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losses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across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 Web3.</a:t>
            </a:r>
            <a:endParaRPr sz="2000">
              <a:latin typeface="Muli"/>
              <a:cs typeface="Muli"/>
            </a:endParaRPr>
          </a:p>
          <a:p>
            <a:pPr marL="228600" marR="8255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Every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incident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erodes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user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trust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and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raises</a:t>
            </a:r>
            <a:r>
              <a:rPr dirty="0" sz="2000" spc="-4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launch</a:t>
            </a:r>
            <a:r>
              <a:rPr dirty="0" sz="2000" spc="-4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risk.</a:t>
            </a:r>
            <a:endParaRPr sz="20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727315" cy="10287000"/>
          </a:xfrm>
          <a:custGeom>
            <a:avLst/>
            <a:gdLst/>
            <a:ahLst/>
            <a:cxnLst/>
            <a:rect l="l" t="t" r="r" b="b"/>
            <a:pathLst>
              <a:path w="7727315" h="10287000">
                <a:moveTo>
                  <a:pt x="7727188" y="0"/>
                </a:moveTo>
                <a:lnTo>
                  <a:pt x="0" y="0"/>
                </a:lnTo>
                <a:lnTo>
                  <a:pt x="0" y="10287000"/>
                </a:lnTo>
                <a:lnTo>
                  <a:pt x="7727188" y="10287000"/>
                </a:lnTo>
                <a:lnTo>
                  <a:pt x="7727188" y="0"/>
                </a:lnTo>
                <a:close/>
              </a:path>
            </a:pathLst>
          </a:custGeom>
          <a:solidFill>
            <a:srgbClr val="FF53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2828" y="4376710"/>
            <a:ext cx="55372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20">
                <a:solidFill>
                  <a:srgbClr val="FFFFFF"/>
                </a:solidFill>
                <a:latin typeface="Azeret Mono"/>
                <a:cs typeface="Azeret Mono"/>
              </a:rPr>
              <a:t>Our</a:t>
            </a:r>
            <a:r>
              <a:rPr dirty="0" sz="6000" spc="-850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z="6000" spc="-310">
                <a:solidFill>
                  <a:srgbClr val="FFFFFF"/>
                </a:solidFill>
                <a:latin typeface="Azeret Mono"/>
                <a:cs typeface="Azeret Mono"/>
              </a:rPr>
              <a:t>Solution</a:t>
            </a:r>
            <a:endParaRPr sz="6000">
              <a:latin typeface="Azeret Mono"/>
              <a:cs typeface="Azeret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83567" y="513962"/>
            <a:ext cx="26257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Problem</a:t>
            </a:r>
            <a:r>
              <a:rPr dirty="0" sz="1900" spc="204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204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Solution</a:t>
            </a:r>
            <a:endParaRPr sz="1900">
              <a:latin typeface="Muli"/>
              <a:cs typeface="Mul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88982" y="6588742"/>
            <a:ext cx="9101455" cy="2334260"/>
          </a:xfrm>
          <a:custGeom>
            <a:avLst/>
            <a:gdLst/>
            <a:ahLst/>
            <a:cxnLst/>
            <a:rect l="l" t="t" r="r" b="b"/>
            <a:pathLst>
              <a:path w="9101455" h="2334259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2190876"/>
                </a:lnTo>
                <a:lnTo>
                  <a:pt x="292" y="2200224"/>
                </a:lnTo>
                <a:lnTo>
                  <a:pt x="9144" y="2241219"/>
                </a:lnTo>
                <a:lnTo>
                  <a:pt x="29514" y="2277871"/>
                </a:lnTo>
                <a:lnTo>
                  <a:pt x="59639" y="2307031"/>
                </a:lnTo>
                <a:lnTo>
                  <a:pt x="99161" y="2326932"/>
                </a:lnTo>
                <a:lnTo>
                  <a:pt x="8960827" y="2333751"/>
                </a:lnTo>
                <a:lnTo>
                  <a:pt x="8974823" y="2332850"/>
                </a:lnTo>
                <a:lnTo>
                  <a:pt x="9015323" y="2321979"/>
                </a:lnTo>
                <a:lnTo>
                  <a:pt x="9056166" y="2295182"/>
                </a:lnTo>
                <a:lnTo>
                  <a:pt x="9083395" y="2260295"/>
                </a:lnTo>
                <a:lnTo>
                  <a:pt x="9099080" y="2216467"/>
                </a:lnTo>
                <a:lnTo>
                  <a:pt x="9101366" y="140538"/>
                </a:lnTo>
                <a:lnTo>
                  <a:pt x="9100451" y="126542"/>
                </a:lnTo>
                <a:lnTo>
                  <a:pt x="9089593" y="86042"/>
                </a:lnTo>
                <a:lnTo>
                  <a:pt x="9065920" y="48653"/>
                </a:lnTo>
                <a:lnTo>
                  <a:pt x="9029941" y="19126"/>
                </a:lnTo>
                <a:lnTo>
                  <a:pt x="8984068" y="2285"/>
                </a:lnTo>
                <a:lnTo>
                  <a:pt x="142875" y="0"/>
                </a:lnTo>
                <a:close/>
              </a:path>
            </a:pathLst>
          </a:custGeom>
          <a:solidFill>
            <a:srgbClr val="D8EF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88982" y="1349893"/>
            <a:ext cx="9101455" cy="2334260"/>
          </a:xfrm>
          <a:custGeom>
            <a:avLst/>
            <a:gdLst/>
            <a:ahLst/>
            <a:cxnLst/>
            <a:rect l="l" t="t" r="r" b="b"/>
            <a:pathLst>
              <a:path w="9101455" h="2334260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2190877"/>
                </a:lnTo>
                <a:lnTo>
                  <a:pt x="292" y="2200224"/>
                </a:lnTo>
                <a:lnTo>
                  <a:pt x="9144" y="2241219"/>
                </a:lnTo>
                <a:lnTo>
                  <a:pt x="33909" y="2283333"/>
                </a:lnTo>
                <a:lnTo>
                  <a:pt x="71424" y="2314638"/>
                </a:lnTo>
                <a:lnTo>
                  <a:pt x="117297" y="2331478"/>
                </a:lnTo>
                <a:lnTo>
                  <a:pt x="8960827" y="2333752"/>
                </a:lnTo>
                <a:lnTo>
                  <a:pt x="8974823" y="2332837"/>
                </a:lnTo>
                <a:lnTo>
                  <a:pt x="9015323" y="2321979"/>
                </a:lnTo>
                <a:lnTo>
                  <a:pt x="9056166" y="2295182"/>
                </a:lnTo>
                <a:lnTo>
                  <a:pt x="9083395" y="2260295"/>
                </a:lnTo>
                <a:lnTo>
                  <a:pt x="9099080" y="2216467"/>
                </a:lnTo>
                <a:lnTo>
                  <a:pt x="9101366" y="140538"/>
                </a:lnTo>
                <a:lnTo>
                  <a:pt x="9100451" y="126542"/>
                </a:lnTo>
                <a:lnTo>
                  <a:pt x="9089593" y="86042"/>
                </a:lnTo>
                <a:lnTo>
                  <a:pt x="9065920" y="48653"/>
                </a:lnTo>
                <a:lnTo>
                  <a:pt x="9029941" y="19126"/>
                </a:lnTo>
                <a:lnTo>
                  <a:pt x="8984068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D8EF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99846" y="3965666"/>
            <a:ext cx="9090660" cy="2334260"/>
          </a:xfrm>
          <a:custGeom>
            <a:avLst/>
            <a:gdLst/>
            <a:ahLst/>
            <a:cxnLst/>
            <a:rect l="l" t="t" r="r" b="b"/>
            <a:pathLst>
              <a:path w="9090660" h="2334260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2190877"/>
                </a:lnTo>
                <a:lnTo>
                  <a:pt x="292" y="2200224"/>
                </a:lnTo>
                <a:lnTo>
                  <a:pt x="9144" y="2241219"/>
                </a:lnTo>
                <a:lnTo>
                  <a:pt x="33909" y="2283320"/>
                </a:lnTo>
                <a:lnTo>
                  <a:pt x="67411" y="2312225"/>
                </a:lnTo>
                <a:lnTo>
                  <a:pt x="117297" y="2331478"/>
                </a:lnTo>
                <a:lnTo>
                  <a:pt x="8947619" y="2333752"/>
                </a:lnTo>
                <a:lnTo>
                  <a:pt x="8956967" y="2333472"/>
                </a:lnTo>
                <a:lnTo>
                  <a:pt x="8997962" y="2324620"/>
                </a:lnTo>
                <a:lnTo>
                  <a:pt x="9034614" y="2304249"/>
                </a:lnTo>
                <a:lnTo>
                  <a:pt x="9063774" y="2274112"/>
                </a:lnTo>
                <a:lnTo>
                  <a:pt x="9083675" y="2234590"/>
                </a:lnTo>
                <a:lnTo>
                  <a:pt x="9090494" y="142875"/>
                </a:lnTo>
                <a:lnTo>
                  <a:pt x="9090215" y="133527"/>
                </a:lnTo>
                <a:lnTo>
                  <a:pt x="9080512" y="90360"/>
                </a:lnTo>
                <a:lnTo>
                  <a:pt x="9056585" y="50431"/>
                </a:lnTo>
                <a:lnTo>
                  <a:pt x="9019070" y="19126"/>
                </a:lnTo>
                <a:lnTo>
                  <a:pt x="8973210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D8EF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57878" y="6808301"/>
            <a:ext cx="5079365" cy="1763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From</a:t>
            </a:r>
            <a:r>
              <a:rPr dirty="0" sz="2500" spc="-3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audits</a:t>
            </a:r>
            <a:r>
              <a:rPr dirty="0" sz="2500" spc="-1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to</a:t>
            </a:r>
            <a:r>
              <a:rPr dirty="0" sz="2500" spc="-1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500" spc="-10" b="1">
                <a:solidFill>
                  <a:srgbClr val="520E3A"/>
                </a:solidFill>
                <a:latin typeface="Muli"/>
                <a:cs typeface="Muli"/>
              </a:rPr>
              <a:t>workflow</a:t>
            </a:r>
            <a:endParaRPr sz="2500">
              <a:latin typeface="Muli"/>
              <a:cs typeface="Muli"/>
            </a:endParaRPr>
          </a:p>
          <a:p>
            <a:pPr marL="204470" marR="5080" indent="-192405">
              <a:lnSpc>
                <a:spcPct val="102200"/>
              </a:lnSpc>
              <a:spcBef>
                <a:spcPts val="1635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Make</a:t>
            </a:r>
            <a:r>
              <a:rPr dirty="0" sz="1750" spc="10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security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continuous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check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during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build,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test,</a:t>
            </a:r>
            <a:r>
              <a:rPr dirty="0" sz="1750" spc="8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750" spc="8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release.</a:t>
            </a:r>
            <a:endParaRPr sz="1750">
              <a:latin typeface="Muli"/>
              <a:cs typeface="Muli"/>
            </a:endParaRPr>
          </a:p>
          <a:p>
            <a:pPr marL="204470" marR="292735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Catch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problems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before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deployment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to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avoid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expensive</a:t>
            </a:r>
            <a:r>
              <a:rPr dirty="0" sz="1750" spc="1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late-stage</a:t>
            </a:r>
            <a:r>
              <a:rPr dirty="0" sz="1750" spc="1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surprises.</a:t>
            </a:r>
            <a:endParaRPr sz="1750">
              <a:latin typeface="Muli"/>
              <a:cs typeface="Mul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8532" rIns="0" bIns="0" rtlCol="0" vert="horz">
            <a:spAutoFit/>
          </a:bodyPr>
          <a:lstStyle/>
          <a:p>
            <a:pPr marL="7766684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Rapid risk </a:t>
            </a:r>
            <a:r>
              <a:rPr dirty="0" sz="2500" spc="-10" b="1">
                <a:solidFill>
                  <a:srgbClr val="520E3A"/>
                </a:solidFill>
                <a:latin typeface="Muli"/>
                <a:cs typeface="Muli"/>
              </a:rPr>
              <a:t>detection</a:t>
            </a:r>
            <a:endParaRPr sz="2500">
              <a:latin typeface="Muli"/>
              <a:cs typeface="Mul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57878" y="2160133"/>
            <a:ext cx="5401945" cy="1172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4470" marR="520065" indent="-192405">
              <a:lnSpc>
                <a:spcPct val="102200"/>
              </a:lnSpc>
              <a:spcBef>
                <a:spcPts val="9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Scan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contract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in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minutes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surface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likely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vulnerabilities</a:t>
            </a:r>
            <a:r>
              <a:rPr dirty="0" sz="1750" spc="2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early.</a:t>
            </a:r>
            <a:endParaRPr sz="1750">
              <a:latin typeface="Muli"/>
              <a:cs typeface="Muli"/>
            </a:endParaRPr>
          </a:p>
          <a:p>
            <a:pPr marL="204470" marR="5080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Prioritize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findings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with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clear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severity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so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teams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act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fast.</a:t>
            </a:r>
            <a:endParaRPr sz="1750">
              <a:latin typeface="Muli"/>
              <a:cs typeface="Mul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06608" y="4222283"/>
            <a:ext cx="5414010" cy="1763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Actionable</a:t>
            </a:r>
            <a:r>
              <a:rPr dirty="0" sz="2500" spc="-4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developer</a:t>
            </a:r>
            <a:r>
              <a:rPr dirty="0" sz="2500" spc="-4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500" spc="-10" b="1">
                <a:solidFill>
                  <a:srgbClr val="520E3A"/>
                </a:solidFill>
                <a:latin typeface="Muli"/>
                <a:cs typeface="Muli"/>
              </a:rPr>
              <a:t>guidance</a:t>
            </a:r>
            <a:endParaRPr sz="2500">
              <a:latin typeface="Muli"/>
              <a:cs typeface="Muli"/>
            </a:endParaRPr>
          </a:p>
          <a:p>
            <a:pPr marL="204470" marR="206375" indent="-192405">
              <a:lnSpc>
                <a:spcPct val="102200"/>
              </a:lnSpc>
              <a:spcBef>
                <a:spcPts val="1635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Get</a:t>
            </a:r>
            <a:r>
              <a:rPr dirty="0" sz="1750" spc="114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fix-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focused</a:t>
            </a:r>
            <a:r>
              <a:rPr dirty="0" sz="1750" spc="114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explanations</a:t>
            </a:r>
            <a:r>
              <a:rPr dirty="0" sz="1750" spc="114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that</a:t>
            </a:r>
            <a:r>
              <a:rPr dirty="0" sz="1750" spc="114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map</a:t>
            </a:r>
            <a:r>
              <a:rPr dirty="0" sz="1750" spc="114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issues</a:t>
            </a:r>
            <a:r>
              <a:rPr dirty="0" sz="1750" spc="114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to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next</a:t>
            </a:r>
            <a:r>
              <a:rPr dirty="0" sz="1750" spc="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steps.</a:t>
            </a:r>
            <a:endParaRPr sz="1750">
              <a:latin typeface="Muli"/>
              <a:cs typeface="Muli"/>
            </a:endParaRPr>
          </a:p>
          <a:p>
            <a:pPr marL="204470" marR="5080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Reduce</a:t>
            </a:r>
            <a:r>
              <a:rPr dirty="0" sz="1750" spc="1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back-and-forth</a:t>
            </a:r>
            <a:r>
              <a:rPr dirty="0" sz="1750" spc="1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by</a:t>
            </a:r>
            <a:r>
              <a:rPr dirty="0" sz="1750" spc="1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shipping</a:t>
            </a:r>
            <a:r>
              <a:rPr dirty="0" sz="1750" spc="1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changes</a:t>
            </a:r>
            <a:r>
              <a:rPr dirty="0" sz="1750" spc="1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20">
                <a:solidFill>
                  <a:srgbClr val="30272D"/>
                </a:solidFill>
                <a:latin typeface="Muli"/>
                <a:cs typeface="Muli"/>
              </a:rPr>
              <a:t>with </a:t>
            </a:r>
            <a:r>
              <a:rPr dirty="0" sz="1750" spc="-20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confidence.</a:t>
            </a:r>
            <a:endParaRPr sz="1750">
              <a:latin typeface="Muli"/>
              <a:cs typeface="Mul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0745" y="6598336"/>
            <a:ext cx="3089287" cy="23241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00745" y="1350187"/>
            <a:ext cx="3089287" cy="233316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89035" y="3982339"/>
            <a:ext cx="3089541" cy="23241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397623" y="9393394"/>
            <a:ext cx="10115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06</a:t>
            </a:r>
            <a:endParaRPr sz="19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485" y="513962"/>
            <a:ext cx="26257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Problem</a:t>
            </a:r>
            <a:r>
              <a:rPr dirty="0" sz="1900" spc="204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204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Solution</a:t>
            </a:r>
            <a:endParaRPr sz="1900">
              <a:latin typeface="Muli"/>
              <a:cs typeface="Mul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>
                <a:latin typeface="Azeret Mono"/>
                <a:cs typeface="Azeret Mono"/>
              </a:rPr>
              <a:t>How</a:t>
            </a:r>
            <a:r>
              <a:rPr dirty="0" spc="-855">
                <a:latin typeface="Azeret Mono"/>
                <a:cs typeface="Azeret Mono"/>
              </a:rPr>
              <a:t> </a:t>
            </a:r>
            <a:r>
              <a:rPr dirty="0">
                <a:latin typeface="Azeret Mono"/>
                <a:cs typeface="Azeret Mono"/>
              </a:rPr>
              <a:t>It</a:t>
            </a:r>
            <a:r>
              <a:rPr dirty="0" spc="-885">
                <a:latin typeface="Azeret Mono"/>
                <a:cs typeface="Azeret Mono"/>
              </a:rPr>
              <a:t> </a:t>
            </a:r>
            <a:r>
              <a:rPr dirty="0" spc="-310">
                <a:latin typeface="Azeret Mono"/>
                <a:cs typeface="Azeret Mono"/>
              </a:rPr>
              <a:t>Works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3485" y="2689905"/>
            <a:ext cx="7445375" cy="4937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8945" indent="-43624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448945" algn="l"/>
              </a:tabLst>
            </a:pP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Submit</a:t>
            </a:r>
            <a:endParaRPr sz="2800">
              <a:latin typeface="Muli"/>
              <a:cs typeface="Muli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Upload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or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paste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smart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contract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directly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in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Securithm.</a:t>
            </a:r>
            <a:endParaRPr sz="2000">
              <a:latin typeface="Muli"/>
              <a:cs typeface="Mul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000">
              <a:latin typeface="Muli"/>
              <a:cs typeface="Muli"/>
            </a:endParaRPr>
          </a:p>
          <a:p>
            <a:pPr marL="448945" indent="-436245">
              <a:lnSpc>
                <a:spcPct val="100000"/>
              </a:lnSpc>
              <a:buAutoNum type="arabicParenR" startAt="2"/>
              <a:tabLst>
                <a:tab pos="448945" algn="l"/>
              </a:tabLst>
            </a:pPr>
            <a:r>
              <a:rPr dirty="0" sz="2800" spc="-20" b="1">
                <a:solidFill>
                  <a:srgbClr val="520E3A"/>
                </a:solidFill>
                <a:latin typeface="Muli"/>
                <a:cs typeface="Muli"/>
              </a:rPr>
              <a:t>Scan</a:t>
            </a:r>
            <a:endParaRPr sz="2800">
              <a:latin typeface="Muli"/>
              <a:cs typeface="Muli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Automated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checks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run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fast,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with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AI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review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for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context.</a:t>
            </a:r>
            <a:endParaRPr sz="2000">
              <a:latin typeface="Muli"/>
              <a:cs typeface="Mul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000">
              <a:latin typeface="Muli"/>
              <a:cs typeface="Muli"/>
            </a:endParaRPr>
          </a:p>
          <a:p>
            <a:pPr marL="448945" indent="-436245">
              <a:lnSpc>
                <a:spcPct val="100000"/>
              </a:lnSpc>
              <a:buAutoNum type="arabicParenR" startAt="3"/>
              <a:tabLst>
                <a:tab pos="448945" algn="l"/>
              </a:tabLst>
            </a:pP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Triage</a:t>
            </a:r>
            <a:endParaRPr sz="2800">
              <a:latin typeface="Muli"/>
              <a:cs typeface="Muli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Dashboard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groups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findings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by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severity,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with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clear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explanations.</a:t>
            </a:r>
            <a:endParaRPr sz="2000">
              <a:latin typeface="Muli"/>
              <a:cs typeface="Mul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000">
              <a:latin typeface="Muli"/>
              <a:cs typeface="Muli"/>
            </a:endParaRPr>
          </a:p>
          <a:p>
            <a:pPr marL="448945" indent="-436245">
              <a:lnSpc>
                <a:spcPct val="100000"/>
              </a:lnSpc>
              <a:buAutoNum type="arabicParenR" startAt="4"/>
              <a:tabLst>
                <a:tab pos="448945" algn="l"/>
              </a:tabLst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Fix</a:t>
            </a:r>
            <a:r>
              <a:rPr dirty="0" sz="2800" spc="-3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and</a:t>
            </a:r>
            <a:r>
              <a:rPr dirty="0" sz="2800" spc="-2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20" b="1">
                <a:solidFill>
                  <a:srgbClr val="520E3A"/>
                </a:solidFill>
                <a:latin typeface="Muli"/>
                <a:cs typeface="Muli"/>
              </a:rPr>
              <a:t>ship</a:t>
            </a:r>
            <a:endParaRPr sz="2800">
              <a:latin typeface="Muli"/>
              <a:cs typeface="Muli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Suggested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next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steps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help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teams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resolve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issues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pre-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deploy.</a:t>
            </a:r>
            <a:endParaRPr sz="2000">
              <a:latin typeface="Muli"/>
              <a:cs typeface="Mul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6120" y="3076895"/>
            <a:ext cx="7754012" cy="516949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392113"/>
            <a:ext cx="1011555" cy="3282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07</a:t>
            </a:r>
            <a:endParaRPr sz="19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98815" y="6409302"/>
            <a:ext cx="87376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solidFill>
                  <a:srgbClr val="FFFFFF"/>
                </a:solidFill>
                <a:latin typeface="Azeret Mono"/>
                <a:cs typeface="Azeret Mono"/>
              </a:rPr>
              <a:t>Market</a:t>
            </a:r>
            <a:r>
              <a:rPr dirty="0" spc="-760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pc="-120">
                <a:solidFill>
                  <a:srgbClr val="FFFFFF"/>
                </a:solidFill>
                <a:latin typeface="Azeret Mono"/>
                <a:cs typeface="Azeret Mono"/>
              </a:rPr>
              <a:t>and</a:t>
            </a:r>
            <a:r>
              <a:rPr dirty="0" spc="-840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pc="-310">
                <a:solidFill>
                  <a:srgbClr val="FFFFFF"/>
                </a:solidFill>
                <a:latin typeface="Azeret Mono"/>
                <a:cs typeface="Azeret Mono"/>
              </a:rPr>
              <a:t>Business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3467" y="9392188"/>
            <a:ext cx="1011555" cy="3282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FFFFFF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FFFFFF"/>
                </a:solidFill>
                <a:latin typeface="Muli"/>
                <a:cs typeface="Muli"/>
              </a:rPr>
              <a:t>08</a:t>
            </a:r>
            <a:endParaRPr sz="19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20476" y="2627092"/>
            <a:ext cx="4779645" cy="4467860"/>
          </a:xfrm>
          <a:custGeom>
            <a:avLst/>
            <a:gdLst/>
            <a:ahLst/>
            <a:cxnLst/>
            <a:rect l="l" t="t" r="r" b="b"/>
            <a:pathLst>
              <a:path w="4779644" h="4467859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4324540"/>
                </a:lnTo>
                <a:lnTo>
                  <a:pt x="292" y="4333887"/>
                </a:lnTo>
                <a:lnTo>
                  <a:pt x="9982" y="4377055"/>
                </a:lnTo>
                <a:lnTo>
                  <a:pt x="33909" y="4416983"/>
                </a:lnTo>
                <a:lnTo>
                  <a:pt x="71424" y="4448289"/>
                </a:lnTo>
                <a:lnTo>
                  <a:pt x="117297" y="4465129"/>
                </a:lnTo>
                <a:lnTo>
                  <a:pt x="4636490" y="4467415"/>
                </a:lnTo>
                <a:lnTo>
                  <a:pt x="4643501" y="4467250"/>
                </a:lnTo>
                <a:lnTo>
                  <a:pt x="4686820" y="4458271"/>
                </a:lnTo>
                <a:lnTo>
                  <a:pt x="4723472" y="4437900"/>
                </a:lnTo>
                <a:lnTo>
                  <a:pt x="4752632" y="4407776"/>
                </a:lnTo>
                <a:lnTo>
                  <a:pt x="4772533" y="4368253"/>
                </a:lnTo>
                <a:lnTo>
                  <a:pt x="4779365" y="142875"/>
                </a:lnTo>
                <a:lnTo>
                  <a:pt x="4779073" y="133527"/>
                </a:lnTo>
                <a:lnTo>
                  <a:pt x="4767592" y="86042"/>
                </a:lnTo>
                <a:lnTo>
                  <a:pt x="4740783" y="45199"/>
                </a:lnTo>
                <a:lnTo>
                  <a:pt x="4707928" y="19126"/>
                </a:lnTo>
                <a:lnTo>
                  <a:pt x="4662068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FF53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768405" y="2627092"/>
            <a:ext cx="4779645" cy="4467860"/>
          </a:xfrm>
          <a:custGeom>
            <a:avLst/>
            <a:gdLst/>
            <a:ahLst/>
            <a:cxnLst/>
            <a:rect l="l" t="t" r="r" b="b"/>
            <a:pathLst>
              <a:path w="4779645" h="4467859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4324540"/>
                </a:lnTo>
                <a:lnTo>
                  <a:pt x="292" y="4333887"/>
                </a:lnTo>
                <a:lnTo>
                  <a:pt x="9982" y="4377055"/>
                </a:lnTo>
                <a:lnTo>
                  <a:pt x="33909" y="4416983"/>
                </a:lnTo>
                <a:lnTo>
                  <a:pt x="71424" y="4448289"/>
                </a:lnTo>
                <a:lnTo>
                  <a:pt x="117297" y="4465129"/>
                </a:lnTo>
                <a:lnTo>
                  <a:pt x="4636490" y="4467415"/>
                </a:lnTo>
                <a:lnTo>
                  <a:pt x="4643501" y="4467250"/>
                </a:lnTo>
                <a:lnTo>
                  <a:pt x="4686820" y="4458271"/>
                </a:lnTo>
                <a:lnTo>
                  <a:pt x="4723472" y="4437900"/>
                </a:lnTo>
                <a:lnTo>
                  <a:pt x="4752632" y="4407776"/>
                </a:lnTo>
                <a:lnTo>
                  <a:pt x="4772520" y="4368253"/>
                </a:lnTo>
                <a:lnTo>
                  <a:pt x="4779365" y="142875"/>
                </a:lnTo>
                <a:lnTo>
                  <a:pt x="4779073" y="133527"/>
                </a:lnTo>
                <a:lnTo>
                  <a:pt x="4767592" y="86042"/>
                </a:lnTo>
                <a:lnTo>
                  <a:pt x="4743919" y="48653"/>
                </a:lnTo>
                <a:lnTo>
                  <a:pt x="4707928" y="19126"/>
                </a:lnTo>
                <a:lnTo>
                  <a:pt x="4662055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FF53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16334" y="2627092"/>
            <a:ext cx="4779645" cy="6337300"/>
            <a:chOff x="916334" y="2627092"/>
            <a:chExt cx="4779645" cy="6337300"/>
          </a:xfrm>
        </p:grpSpPr>
        <p:sp>
          <p:nvSpPr>
            <p:cNvPr id="5" name="object 5"/>
            <p:cNvSpPr/>
            <p:nvPr/>
          </p:nvSpPr>
          <p:spPr>
            <a:xfrm>
              <a:off x="916334" y="2627092"/>
              <a:ext cx="4779645" cy="4467860"/>
            </a:xfrm>
            <a:custGeom>
              <a:avLst/>
              <a:gdLst/>
              <a:ahLst/>
              <a:cxnLst/>
              <a:rect l="l" t="t" r="r" b="b"/>
              <a:pathLst>
                <a:path w="4779645" h="4467859">
                  <a:moveTo>
                    <a:pt x="142875" y="0"/>
                  </a:moveTo>
                  <a:lnTo>
                    <a:pt x="90360" y="9982"/>
                  </a:lnTo>
                  <a:lnTo>
                    <a:pt x="48653" y="35445"/>
                  </a:lnTo>
                  <a:lnTo>
                    <a:pt x="19126" y="71424"/>
                  </a:lnTo>
                  <a:lnTo>
                    <a:pt x="2285" y="117297"/>
                  </a:lnTo>
                  <a:lnTo>
                    <a:pt x="0" y="4324540"/>
                  </a:lnTo>
                  <a:lnTo>
                    <a:pt x="292" y="4333887"/>
                  </a:lnTo>
                  <a:lnTo>
                    <a:pt x="9982" y="4377055"/>
                  </a:lnTo>
                  <a:lnTo>
                    <a:pt x="33909" y="4416983"/>
                  </a:lnTo>
                  <a:lnTo>
                    <a:pt x="71424" y="4448289"/>
                  </a:lnTo>
                  <a:lnTo>
                    <a:pt x="117297" y="4465129"/>
                  </a:lnTo>
                  <a:lnTo>
                    <a:pt x="4636477" y="4467415"/>
                  </a:lnTo>
                  <a:lnTo>
                    <a:pt x="4643501" y="4467250"/>
                  </a:lnTo>
                  <a:lnTo>
                    <a:pt x="4686820" y="4458271"/>
                  </a:lnTo>
                  <a:lnTo>
                    <a:pt x="4728933" y="4433506"/>
                  </a:lnTo>
                  <a:lnTo>
                    <a:pt x="4756581" y="4401972"/>
                  </a:lnTo>
                  <a:lnTo>
                    <a:pt x="4773891" y="4363770"/>
                  </a:lnTo>
                  <a:lnTo>
                    <a:pt x="4779352" y="142875"/>
                  </a:lnTo>
                  <a:lnTo>
                    <a:pt x="4779073" y="133527"/>
                  </a:lnTo>
                  <a:lnTo>
                    <a:pt x="4767592" y="86042"/>
                  </a:lnTo>
                  <a:lnTo>
                    <a:pt x="4743919" y="48653"/>
                  </a:lnTo>
                  <a:lnTo>
                    <a:pt x="4707928" y="19126"/>
                  </a:lnTo>
                  <a:lnTo>
                    <a:pt x="4662055" y="2286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FF53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6470" y="5840107"/>
              <a:ext cx="4779010" cy="31242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876465" y="513962"/>
            <a:ext cx="253301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Market</a:t>
            </a:r>
            <a:r>
              <a:rPr dirty="0" sz="1900" spc="190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Business</a:t>
            </a:r>
            <a:endParaRPr sz="1900">
              <a:latin typeface="Muli"/>
              <a:cs typeface="Mul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20612" y="5840107"/>
            <a:ext cx="4778997" cy="3124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8553" y="5840107"/>
            <a:ext cx="4778997" cy="31242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9400" y="3564988"/>
            <a:ext cx="3952875" cy="15798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Fits</a:t>
            </a:r>
            <a:r>
              <a:rPr dirty="0" sz="2250" spc="-6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your</a:t>
            </a:r>
            <a:r>
              <a:rPr dirty="0" sz="2250" spc="-6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spc="-10" b="1">
                <a:solidFill>
                  <a:srgbClr val="FFFFFF"/>
                </a:solidFill>
                <a:latin typeface="Muli"/>
                <a:cs typeface="Muli"/>
              </a:rPr>
              <a:t>developer</a:t>
            </a:r>
            <a:r>
              <a:rPr dirty="0" sz="2250" spc="-6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spc="-10" b="1">
                <a:solidFill>
                  <a:srgbClr val="FFFFFF"/>
                </a:solidFill>
                <a:latin typeface="Muli"/>
                <a:cs typeface="Muli"/>
              </a:rPr>
              <a:t>workflow</a:t>
            </a:r>
            <a:endParaRPr sz="2250">
              <a:latin typeface="Muli"/>
              <a:cs typeface="Muli"/>
            </a:endParaRPr>
          </a:p>
          <a:p>
            <a:pPr marL="185420" marR="67310" indent="-173355">
              <a:lnSpc>
                <a:spcPct val="100000"/>
              </a:lnSpc>
              <a:spcBef>
                <a:spcPts val="147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Integrates</a:t>
            </a:r>
            <a:r>
              <a:rPr dirty="0" sz="1600" spc="-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into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everyday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build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and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release</a:t>
            </a:r>
            <a:r>
              <a:rPr dirty="0" sz="1600" spc="-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cycles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instead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of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blocking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them.</a:t>
            </a:r>
            <a:endParaRPr sz="1600">
              <a:latin typeface="Muli"/>
              <a:cs typeface="Muli"/>
            </a:endParaRPr>
          </a:p>
          <a:p>
            <a:pPr marL="185420" marR="506730" indent="-173355">
              <a:lnSpc>
                <a:spcPct val="100000"/>
              </a:lnSpc>
              <a:spcBef>
                <a:spcPts val="40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Turns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findings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into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clear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next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steps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developers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can</a:t>
            </a:r>
            <a:r>
              <a:rPr dirty="0" sz="1600" spc="-1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act</a:t>
            </a:r>
            <a:r>
              <a:rPr dirty="0" sz="1600" spc="-1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on</a:t>
            </a:r>
            <a:r>
              <a:rPr dirty="0" sz="1600" spc="-1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quickly.</a:t>
            </a:r>
            <a:endParaRPr sz="1600">
              <a:latin typeface="Muli"/>
              <a:cs typeface="Mul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27328" y="3564988"/>
            <a:ext cx="3496945" cy="19215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282575">
              <a:lnSpc>
                <a:spcPts val="2690"/>
              </a:lnSpc>
              <a:spcBef>
                <a:spcPts val="185"/>
              </a:spcBef>
            </a:pP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Built</a:t>
            </a:r>
            <a:r>
              <a:rPr dirty="0" sz="2250" spc="-6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for</a:t>
            </a:r>
            <a:r>
              <a:rPr dirty="0" sz="2250" spc="-6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real</a:t>
            </a:r>
            <a:r>
              <a:rPr dirty="0" sz="2250" spc="-6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teams</a:t>
            </a:r>
            <a:r>
              <a:rPr dirty="0" sz="2250" spc="-6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spc="-25" b="1">
                <a:solidFill>
                  <a:srgbClr val="FFFFFF"/>
                </a:solidFill>
                <a:latin typeface="Muli"/>
                <a:cs typeface="Muli"/>
              </a:rPr>
              <a:t>and </a:t>
            </a:r>
            <a:r>
              <a:rPr dirty="0" sz="2250" spc="-10" b="1">
                <a:solidFill>
                  <a:srgbClr val="FFFFFF"/>
                </a:solidFill>
                <a:latin typeface="Muli"/>
                <a:cs typeface="Muli"/>
              </a:rPr>
              <a:t>budgets</a:t>
            </a:r>
            <a:endParaRPr sz="2250">
              <a:latin typeface="Muli"/>
              <a:cs typeface="Muli"/>
            </a:endParaRPr>
          </a:p>
          <a:p>
            <a:pPr marL="185420" marR="63500" indent="-173355">
              <a:lnSpc>
                <a:spcPct val="100000"/>
              </a:lnSpc>
              <a:spcBef>
                <a:spcPts val="138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Designed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to</a:t>
            </a:r>
            <a:r>
              <a:rPr dirty="0" sz="1600" spc="-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be</a:t>
            </a:r>
            <a:r>
              <a:rPr dirty="0" sz="1600" spc="-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accessible</a:t>
            </a:r>
            <a:r>
              <a:rPr dirty="0" sz="1600" spc="-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for</a:t>
            </a:r>
            <a:r>
              <a:rPr dirty="0" sz="1600" spc="-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indie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builders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and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growing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protocols.</a:t>
            </a:r>
            <a:endParaRPr sz="1600">
              <a:latin typeface="Muli"/>
              <a:cs typeface="Muli"/>
            </a:endParaRPr>
          </a:p>
          <a:p>
            <a:pPr marL="185420" marR="5080" indent="-173355">
              <a:lnSpc>
                <a:spcPct val="100000"/>
              </a:lnSpc>
              <a:spcBef>
                <a:spcPts val="40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Scale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up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coverage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as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usage</a:t>
            </a:r>
            <a:r>
              <a:rPr dirty="0" sz="1600" spc="-2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grows,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without</a:t>
            </a:r>
            <a:r>
              <a:rPr dirty="0" sz="1600" spc="-1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adding</a:t>
            </a:r>
            <a:r>
              <a:rPr dirty="0" sz="1600" spc="-1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heavy</a:t>
            </a:r>
            <a:r>
              <a:rPr dirty="0" sz="1600" spc="-1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overhead.</a:t>
            </a:r>
            <a:endParaRPr sz="1600">
              <a:latin typeface="Muli"/>
              <a:cs typeface="Mul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5259" y="3564988"/>
            <a:ext cx="3791585" cy="15798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Ship</a:t>
            </a:r>
            <a:r>
              <a:rPr dirty="0" sz="2250" spc="-70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faster</a:t>
            </a:r>
            <a:r>
              <a:rPr dirty="0" sz="2250" spc="-70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b="1">
                <a:solidFill>
                  <a:srgbClr val="FFFFFF"/>
                </a:solidFill>
                <a:latin typeface="Muli"/>
                <a:cs typeface="Muli"/>
              </a:rPr>
              <a:t>with</a:t>
            </a:r>
            <a:r>
              <a:rPr dirty="0" sz="2250" spc="-6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250" spc="-10" b="1">
                <a:solidFill>
                  <a:srgbClr val="FFFFFF"/>
                </a:solidFill>
                <a:latin typeface="Muli"/>
                <a:cs typeface="Muli"/>
              </a:rPr>
              <a:t>confidence</a:t>
            </a:r>
            <a:endParaRPr sz="2250">
              <a:latin typeface="Muli"/>
              <a:cs typeface="Muli"/>
            </a:endParaRPr>
          </a:p>
          <a:p>
            <a:pPr marL="185420" marR="5080" indent="-173355">
              <a:lnSpc>
                <a:spcPct val="100000"/>
              </a:lnSpc>
              <a:spcBef>
                <a:spcPts val="147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Get</a:t>
            </a:r>
            <a:r>
              <a:rPr dirty="0" sz="1600" spc="-4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security</a:t>
            </a:r>
            <a:r>
              <a:rPr dirty="0" sz="1600" spc="-3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feedback</a:t>
            </a:r>
            <a:r>
              <a:rPr dirty="0" sz="1600" spc="-4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early,</a:t>
            </a:r>
            <a:r>
              <a:rPr dirty="0" sz="1600" spc="-3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not</a:t>
            </a:r>
            <a:r>
              <a:rPr dirty="0" sz="1600" spc="-4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weeks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later</a:t>
            </a:r>
            <a:r>
              <a:rPr dirty="0" sz="1600" spc="-4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after</a:t>
            </a:r>
            <a:r>
              <a:rPr dirty="0" sz="1600" spc="-3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a</a:t>
            </a:r>
            <a:r>
              <a:rPr dirty="0" sz="1600" spc="-3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manual</a:t>
            </a:r>
            <a:r>
              <a:rPr dirty="0" sz="1600" spc="-3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audit.</a:t>
            </a:r>
            <a:endParaRPr sz="1600">
              <a:latin typeface="Muli"/>
              <a:cs typeface="Muli"/>
            </a:endParaRPr>
          </a:p>
          <a:p>
            <a:pPr marL="185420" marR="361315" indent="-173355">
              <a:lnSpc>
                <a:spcPct val="100000"/>
              </a:lnSpc>
              <a:spcBef>
                <a:spcPts val="40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Catch</a:t>
            </a:r>
            <a:r>
              <a:rPr dirty="0" sz="1600" spc="-4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issues</a:t>
            </a:r>
            <a:r>
              <a:rPr dirty="0" sz="1600" spc="-4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before</a:t>
            </a:r>
            <a:r>
              <a:rPr dirty="0" sz="1600" spc="-4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deployment,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reducing</a:t>
            </a:r>
            <a:r>
              <a:rPr dirty="0" sz="1600" spc="-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costly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rework</a:t>
            </a:r>
            <a:r>
              <a:rPr dirty="0" sz="1600" spc="-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>
                <a:solidFill>
                  <a:srgbClr val="FFFFFF"/>
                </a:solidFill>
                <a:latin typeface="Muli"/>
                <a:cs typeface="Muli"/>
              </a:rPr>
              <a:t>and</a:t>
            </a:r>
            <a:r>
              <a:rPr dirty="0" sz="1600" spc="-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Muli"/>
                <a:cs typeface="Muli"/>
              </a:rPr>
              <a:t>delays.</a:t>
            </a:r>
            <a:endParaRPr sz="1600">
              <a:latin typeface="Muli"/>
              <a:cs typeface="Muli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>
                <a:latin typeface="Azeret Mono"/>
                <a:cs typeface="Azeret Mono"/>
              </a:rPr>
              <a:t>Why</a:t>
            </a:r>
            <a:r>
              <a:rPr dirty="0" spc="-805">
                <a:latin typeface="Azeret Mono"/>
                <a:cs typeface="Azeret Mono"/>
              </a:rPr>
              <a:t> </a:t>
            </a:r>
            <a:r>
              <a:rPr dirty="0" spc="-215">
                <a:latin typeface="Azeret Mono"/>
                <a:cs typeface="Azeret Mono"/>
              </a:rPr>
              <a:t>Teams</a:t>
            </a:r>
            <a:r>
              <a:rPr dirty="0" spc="-760">
                <a:latin typeface="Azeret Mono"/>
                <a:cs typeface="Azeret Mono"/>
              </a:rPr>
              <a:t> </a:t>
            </a:r>
            <a:r>
              <a:rPr dirty="0" spc="-225">
                <a:latin typeface="Azeret Mono"/>
                <a:cs typeface="Azeret Mono"/>
              </a:rPr>
              <a:t>Choose</a:t>
            </a:r>
            <a:r>
              <a:rPr dirty="0" spc="-750">
                <a:latin typeface="Azeret Mono"/>
                <a:cs typeface="Azeret Mono"/>
              </a:rPr>
              <a:t> </a:t>
            </a:r>
            <a:r>
              <a:rPr dirty="0" spc="-325">
                <a:latin typeface="Azeret Mono"/>
                <a:cs typeface="Azeret Mono"/>
              </a:rPr>
              <a:t>Us</a:t>
            </a:r>
          </a:p>
        </p:txBody>
      </p:sp>
      <p:sp>
        <p:nvSpPr>
          <p:cNvPr id="14" name="object 14"/>
          <p:cNvSpPr/>
          <p:nvPr/>
        </p:nvSpPr>
        <p:spPr>
          <a:xfrm>
            <a:off x="12916575" y="2919925"/>
            <a:ext cx="1875155" cy="408940"/>
          </a:xfrm>
          <a:custGeom>
            <a:avLst/>
            <a:gdLst/>
            <a:ahLst/>
            <a:cxnLst/>
            <a:rect l="l" t="t" r="r" b="b"/>
            <a:pathLst>
              <a:path w="1875155" h="408939">
                <a:moveTo>
                  <a:pt x="204292" y="0"/>
                </a:moveTo>
                <a:lnTo>
                  <a:pt x="1670824" y="0"/>
                </a:lnTo>
                <a:lnTo>
                  <a:pt x="1674164" y="0"/>
                </a:lnTo>
                <a:lnTo>
                  <a:pt x="1677504" y="76"/>
                </a:lnTo>
                <a:lnTo>
                  <a:pt x="1700796" y="2209"/>
                </a:lnTo>
                <a:lnTo>
                  <a:pt x="1704111" y="2705"/>
                </a:lnTo>
                <a:lnTo>
                  <a:pt x="1707400" y="3276"/>
                </a:lnTo>
                <a:lnTo>
                  <a:pt x="1710677" y="3924"/>
                </a:lnTo>
                <a:lnTo>
                  <a:pt x="1713953" y="4572"/>
                </a:lnTo>
                <a:lnTo>
                  <a:pt x="1730121" y="8801"/>
                </a:lnTo>
                <a:lnTo>
                  <a:pt x="1733321" y="9766"/>
                </a:lnTo>
                <a:lnTo>
                  <a:pt x="1770075" y="25704"/>
                </a:lnTo>
                <a:lnTo>
                  <a:pt x="1775853" y="29070"/>
                </a:lnTo>
                <a:lnTo>
                  <a:pt x="1778723" y="30784"/>
                </a:lnTo>
                <a:lnTo>
                  <a:pt x="1800428" y="46367"/>
                </a:lnTo>
                <a:lnTo>
                  <a:pt x="1803019" y="48488"/>
                </a:lnTo>
                <a:lnTo>
                  <a:pt x="1815274" y="59842"/>
                </a:lnTo>
                <a:lnTo>
                  <a:pt x="1817649" y="62204"/>
                </a:lnTo>
                <a:lnTo>
                  <a:pt x="1840687" y="90792"/>
                </a:lnTo>
                <a:lnTo>
                  <a:pt x="1842541" y="93573"/>
                </a:lnTo>
                <a:lnTo>
                  <a:pt x="1860842" y="129209"/>
                </a:lnTo>
                <a:lnTo>
                  <a:pt x="1863178" y="135470"/>
                </a:lnTo>
                <a:lnTo>
                  <a:pt x="1864309" y="138620"/>
                </a:lnTo>
                <a:lnTo>
                  <a:pt x="1868995" y="154660"/>
                </a:lnTo>
                <a:lnTo>
                  <a:pt x="1869808" y="157899"/>
                </a:lnTo>
                <a:lnTo>
                  <a:pt x="1874875" y="194271"/>
                </a:lnTo>
                <a:lnTo>
                  <a:pt x="1875040" y="197612"/>
                </a:lnTo>
                <a:lnTo>
                  <a:pt x="1875129" y="200952"/>
                </a:lnTo>
                <a:lnTo>
                  <a:pt x="1875129" y="204292"/>
                </a:lnTo>
                <a:lnTo>
                  <a:pt x="1875129" y="204609"/>
                </a:lnTo>
                <a:lnTo>
                  <a:pt x="1875129" y="207962"/>
                </a:lnTo>
                <a:lnTo>
                  <a:pt x="1875040" y="211302"/>
                </a:lnTo>
                <a:lnTo>
                  <a:pt x="1874875" y="214642"/>
                </a:lnTo>
                <a:lnTo>
                  <a:pt x="1874710" y="217982"/>
                </a:lnTo>
                <a:lnTo>
                  <a:pt x="1868995" y="254254"/>
                </a:lnTo>
                <a:lnTo>
                  <a:pt x="1868182" y="257505"/>
                </a:lnTo>
                <a:lnTo>
                  <a:pt x="1863178" y="273443"/>
                </a:lnTo>
                <a:lnTo>
                  <a:pt x="1862048" y="276593"/>
                </a:lnTo>
                <a:lnTo>
                  <a:pt x="1844332" y="312508"/>
                </a:lnTo>
                <a:lnTo>
                  <a:pt x="1819948" y="344284"/>
                </a:lnTo>
                <a:lnTo>
                  <a:pt x="1815274" y="349072"/>
                </a:lnTo>
                <a:lnTo>
                  <a:pt x="1812912" y="351434"/>
                </a:lnTo>
                <a:lnTo>
                  <a:pt x="1800428" y="362534"/>
                </a:lnTo>
                <a:lnTo>
                  <a:pt x="1797850" y="364667"/>
                </a:lnTo>
                <a:lnTo>
                  <a:pt x="1775853" y="379844"/>
                </a:lnTo>
                <a:lnTo>
                  <a:pt x="1772983" y="381571"/>
                </a:lnTo>
                <a:lnTo>
                  <a:pt x="1770075" y="383209"/>
                </a:lnTo>
                <a:lnTo>
                  <a:pt x="1767128" y="384784"/>
                </a:lnTo>
                <a:lnTo>
                  <a:pt x="1764182" y="386372"/>
                </a:lnTo>
                <a:lnTo>
                  <a:pt x="1761185" y="387870"/>
                </a:lnTo>
                <a:lnTo>
                  <a:pt x="1758162" y="389293"/>
                </a:lnTo>
                <a:lnTo>
                  <a:pt x="1755140" y="390728"/>
                </a:lnTo>
                <a:lnTo>
                  <a:pt x="1752092" y="392087"/>
                </a:lnTo>
                <a:lnTo>
                  <a:pt x="1749005" y="393357"/>
                </a:lnTo>
                <a:lnTo>
                  <a:pt x="1745919" y="394639"/>
                </a:lnTo>
                <a:lnTo>
                  <a:pt x="1730121" y="400113"/>
                </a:lnTo>
                <a:lnTo>
                  <a:pt x="1726920" y="401091"/>
                </a:lnTo>
                <a:lnTo>
                  <a:pt x="1690839" y="407923"/>
                </a:lnTo>
                <a:lnTo>
                  <a:pt x="1687512" y="408254"/>
                </a:lnTo>
                <a:lnTo>
                  <a:pt x="1684185" y="408508"/>
                </a:lnTo>
                <a:lnTo>
                  <a:pt x="1680845" y="408673"/>
                </a:lnTo>
                <a:lnTo>
                  <a:pt x="1677504" y="408825"/>
                </a:lnTo>
                <a:lnTo>
                  <a:pt x="1674164" y="408914"/>
                </a:lnTo>
                <a:lnTo>
                  <a:pt x="1670824" y="408914"/>
                </a:lnTo>
                <a:lnTo>
                  <a:pt x="204292" y="408914"/>
                </a:lnTo>
                <a:lnTo>
                  <a:pt x="200952" y="408914"/>
                </a:lnTo>
                <a:lnTo>
                  <a:pt x="197612" y="408825"/>
                </a:lnTo>
                <a:lnTo>
                  <a:pt x="194271" y="408673"/>
                </a:lnTo>
                <a:lnTo>
                  <a:pt x="190931" y="408508"/>
                </a:lnTo>
                <a:lnTo>
                  <a:pt x="187591" y="408254"/>
                </a:lnTo>
                <a:lnTo>
                  <a:pt x="184264" y="407923"/>
                </a:lnTo>
                <a:lnTo>
                  <a:pt x="180936" y="407606"/>
                </a:lnTo>
                <a:lnTo>
                  <a:pt x="144983" y="400113"/>
                </a:lnTo>
                <a:lnTo>
                  <a:pt x="141782" y="399148"/>
                </a:lnTo>
                <a:lnTo>
                  <a:pt x="126111" y="393357"/>
                </a:lnTo>
                <a:lnTo>
                  <a:pt x="123024" y="392087"/>
                </a:lnTo>
                <a:lnTo>
                  <a:pt x="119964" y="390728"/>
                </a:lnTo>
                <a:lnTo>
                  <a:pt x="116941" y="389293"/>
                </a:lnTo>
                <a:lnTo>
                  <a:pt x="113919" y="387870"/>
                </a:lnTo>
                <a:lnTo>
                  <a:pt x="110934" y="386372"/>
                </a:lnTo>
                <a:lnTo>
                  <a:pt x="107988" y="384784"/>
                </a:lnTo>
                <a:lnTo>
                  <a:pt x="105041" y="383209"/>
                </a:lnTo>
                <a:lnTo>
                  <a:pt x="102133" y="381571"/>
                </a:lnTo>
                <a:lnTo>
                  <a:pt x="99263" y="379844"/>
                </a:lnTo>
                <a:lnTo>
                  <a:pt x="96393" y="378129"/>
                </a:lnTo>
                <a:lnTo>
                  <a:pt x="93573" y="376339"/>
                </a:lnTo>
                <a:lnTo>
                  <a:pt x="90792" y="374484"/>
                </a:lnTo>
                <a:lnTo>
                  <a:pt x="88011" y="372630"/>
                </a:lnTo>
                <a:lnTo>
                  <a:pt x="74688" y="362534"/>
                </a:lnTo>
                <a:lnTo>
                  <a:pt x="72097" y="360413"/>
                </a:lnTo>
                <a:lnTo>
                  <a:pt x="59829" y="349072"/>
                </a:lnTo>
                <a:lnTo>
                  <a:pt x="57467" y="346710"/>
                </a:lnTo>
                <a:lnTo>
                  <a:pt x="55168" y="344284"/>
                </a:lnTo>
                <a:lnTo>
                  <a:pt x="52920" y="341807"/>
                </a:lnTo>
                <a:lnTo>
                  <a:pt x="50673" y="339331"/>
                </a:lnTo>
                <a:lnTo>
                  <a:pt x="40195" y="326313"/>
                </a:lnTo>
                <a:lnTo>
                  <a:pt x="38201" y="323634"/>
                </a:lnTo>
                <a:lnTo>
                  <a:pt x="36283" y="320890"/>
                </a:lnTo>
                <a:lnTo>
                  <a:pt x="34429" y="318122"/>
                </a:lnTo>
                <a:lnTo>
                  <a:pt x="32562" y="315341"/>
                </a:lnTo>
                <a:lnTo>
                  <a:pt x="19608" y="291960"/>
                </a:lnTo>
                <a:lnTo>
                  <a:pt x="18173" y="288937"/>
                </a:lnTo>
                <a:lnTo>
                  <a:pt x="16827" y="285889"/>
                </a:lnTo>
                <a:lnTo>
                  <a:pt x="15544" y="282790"/>
                </a:lnTo>
                <a:lnTo>
                  <a:pt x="14262" y="279704"/>
                </a:lnTo>
                <a:lnTo>
                  <a:pt x="6121" y="254254"/>
                </a:lnTo>
                <a:lnTo>
                  <a:pt x="5308" y="251015"/>
                </a:lnTo>
                <a:lnTo>
                  <a:pt x="4572" y="247751"/>
                </a:lnTo>
                <a:lnTo>
                  <a:pt x="3924" y="244475"/>
                </a:lnTo>
                <a:lnTo>
                  <a:pt x="3263" y="241198"/>
                </a:lnTo>
                <a:lnTo>
                  <a:pt x="2692" y="237896"/>
                </a:lnTo>
                <a:lnTo>
                  <a:pt x="2209" y="234594"/>
                </a:lnTo>
                <a:lnTo>
                  <a:pt x="1714" y="231279"/>
                </a:lnTo>
                <a:lnTo>
                  <a:pt x="1308" y="227965"/>
                </a:lnTo>
                <a:lnTo>
                  <a:pt x="977" y="224637"/>
                </a:lnTo>
                <a:lnTo>
                  <a:pt x="647" y="221310"/>
                </a:lnTo>
                <a:lnTo>
                  <a:pt x="406" y="217982"/>
                </a:lnTo>
                <a:lnTo>
                  <a:pt x="241" y="214642"/>
                </a:lnTo>
                <a:lnTo>
                  <a:pt x="76" y="211302"/>
                </a:lnTo>
                <a:lnTo>
                  <a:pt x="0" y="207962"/>
                </a:lnTo>
                <a:lnTo>
                  <a:pt x="0" y="204609"/>
                </a:lnTo>
                <a:lnTo>
                  <a:pt x="0" y="204292"/>
                </a:lnTo>
                <a:lnTo>
                  <a:pt x="0" y="200952"/>
                </a:lnTo>
                <a:lnTo>
                  <a:pt x="76" y="197612"/>
                </a:lnTo>
                <a:lnTo>
                  <a:pt x="241" y="194271"/>
                </a:lnTo>
                <a:lnTo>
                  <a:pt x="406" y="190931"/>
                </a:lnTo>
                <a:lnTo>
                  <a:pt x="647" y="187604"/>
                </a:lnTo>
                <a:lnTo>
                  <a:pt x="977" y="184277"/>
                </a:lnTo>
                <a:lnTo>
                  <a:pt x="1308" y="180949"/>
                </a:lnTo>
                <a:lnTo>
                  <a:pt x="1714" y="177634"/>
                </a:lnTo>
                <a:lnTo>
                  <a:pt x="2209" y="174320"/>
                </a:lnTo>
                <a:lnTo>
                  <a:pt x="2692" y="171018"/>
                </a:lnTo>
                <a:lnTo>
                  <a:pt x="3263" y="167716"/>
                </a:lnTo>
                <a:lnTo>
                  <a:pt x="3924" y="164439"/>
                </a:lnTo>
                <a:lnTo>
                  <a:pt x="4572" y="161163"/>
                </a:lnTo>
                <a:lnTo>
                  <a:pt x="5308" y="157899"/>
                </a:lnTo>
                <a:lnTo>
                  <a:pt x="6121" y="154660"/>
                </a:lnTo>
                <a:lnTo>
                  <a:pt x="6934" y="151409"/>
                </a:lnTo>
                <a:lnTo>
                  <a:pt x="19608" y="116954"/>
                </a:lnTo>
                <a:lnTo>
                  <a:pt x="21043" y="113931"/>
                </a:lnTo>
                <a:lnTo>
                  <a:pt x="34429" y="90792"/>
                </a:lnTo>
                <a:lnTo>
                  <a:pt x="36283" y="88011"/>
                </a:lnTo>
                <a:lnTo>
                  <a:pt x="38201" y="85280"/>
                </a:lnTo>
                <a:lnTo>
                  <a:pt x="40195" y="82600"/>
                </a:lnTo>
                <a:lnTo>
                  <a:pt x="42189" y="79908"/>
                </a:lnTo>
                <a:lnTo>
                  <a:pt x="59829" y="59842"/>
                </a:lnTo>
                <a:lnTo>
                  <a:pt x="62191" y="57467"/>
                </a:lnTo>
                <a:lnTo>
                  <a:pt x="74688" y="46367"/>
                </a:lnTo>
                <a:lnTo>
                  <a:pt x="77266" y="44246"/>
                </a:lnTo>
                <a:lnTo>
                  <a:pt x="90792" y="34429"/>
                </a:lnTo>
                <a:lnTo>
                  <a:pt x="93573" y="32575"/>
                </a:lnTo>
                <a:lnTo>
                  <a:pt x="96393" y="30784"/>
                </a:lnTo>
                <a:lnTo>
                  <a:pt x="99263" y="29070"/>
                </a:lnTo>
                <a:lnTo>
                  <a:pt x="102133" y="27343"/>
                </a:lnTo>
                <a:lnTo>
                  <a:pt x="138620" y="10820"/>
                </a:lnTo>
                <a:lnTo>
                  <a:pt x="144983" y="8801"/>
                </a:lnTo>
                <a:lnTo>
                  <a:pt x="148183" y="7823"/>
                </a:lnTo>
                <a:lnTo>
                  <a:pt x="164439" y="3924"/>
                </a:lnTo>
                <a:lnTo>
                  <a:pt x="167716" y="3276"/>
                </a:lnTo>
                <a:lnTo>
                  <a:pt x="171005" y="2705"/>
                </a:lnTo>
                <a:lnTo>
                  <a:pt x="174320" y="2209"/>
                </a:lnTo>
                <a:lnTo>
                  <a:pt x="177622" y="1714"/>
                </a:lnTo>
                <a:lnTo>
                  <a:pt x="194271" y="241"/>
                </a:lnTo>
                <a:lnTo>
                  <a:pt x="197612" y="76"/>
                </a:lnTo>
                <a:lnTo>
                  <a:pt x="200952" y="0"/>
                </a:lnTo>
                <a:lnTo>
                  <a:pt x="204292" y="0"/>
                </a:lnTo>
                <a:close/>
              </a:path>
            </a:pathLst>
          </a:custGeom>
          <a:ln w="1570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64504" y="2919925"/>
            <a:ext cx="1875155" cy="408940"/>
          </a:xfrm>
          <a:custGeom>
            <a:avLst/>
            <a:gdLst/>
            <a:ahLst/>
            <a:cxnLst/>
            <a:rect l="l" t="t" r="r" b="b"/>
            <a:pathLst>
              <a:path w="1875154" h="408939">
                <a:moveTo>
                  <a:pt x="204292" y="0"/>
                </a:moveTo>
                <a:lnTo>
                  <a:pt x="1670824" y="0"/>
                </a:lnTo>
                <a:lnTo>
                  <a:pt x="1674164" y="0"/>
                </a:lnTo>
                <a:lnTo>
                  <a:pt x="1677504" y="76"/>
                </a:lnTo>
                <a:lnTo>
                  <a:pt x="1700796" y="2209"/>
                </a:lnTo>
                <a:lnTo>
                  <a:pt x="1704111" y="2705"/>
                </a:lnTo>
                <a:lnTo>
                  <a:pt x="1707400" y="3276"/>
                </a:lnTo>
                <a:lnTo>
                  <a:pt x="1710677" y="3924"/>
                </a:lnTo>
                <a:lnTo>
                  <a:pt x="1713953" y="4572"/>
                </a:lnTo>
                <a:lnTo>
                  <a:pt x="1730121" y="8801"/>
                </a:lnTo>
                <a:lnTo>
                  <a:pt x="1733321" y="9766"/>
                </a:lnTo>
                <a:lnTo>
                  <a:pt x="1770075" y="25704"/>
                </a:lnTo>
                <a:lnTo>
                  <a:pt x="1775853" y="29070"/>
                </a:lnTo>
                <a:lnTo>
                  <a:pt x="1778723" y="30784"/>
                </a:lnTo>
                <a:lnTo>
                  <a:pt x="1800428" y="46367"/>
                </a:lnTo>
                <a:lnTo>
                  <a:pt x="1803019" y="48488"/>
                </a:lnTo>
                <a:lnTo>
                  <a:pt x="1815274" y="59842"/>
                </a:lnTo>
                <a:lnTo>
                  <a:pt x="1817649" y="62204"/>
                </a:lnTo>
                <a:lnTo>
                  <a:pt x="1840687" y="90792"/>
                </a:lnTo>
                <a:lnTo>
                  <a:pt x="1842541" y="93573"/>
                </a:lnTo>
                <a:lnTo>
                  <a:pt x="1860842" y="129209"/>
                </a:lnTo>
                <a:lnTo>
                  <a:pt x="1863178" y="135470"/>
                </a:lnTo>
                <a:lnTo>
                  <a:pt x="1864309" y="138620"/>
                </a:lnTo>
                <a:lnTo>
                  <a:pt x="1868995" y="154660"/>
                </a:lnTo>
                <a:lnTo>
                  <a:pt x="1869808" y="157899"/>
                </a:lnTo>
                <a:lnTo>
                  <a:pt x="1874875" y="194271"/>
                </a:lnTo>
                <a:lnTo>
                  <a:pt x="1875040" y="197612"/>
                </a:lnTo>
                <a:lnTo>
                  <a:pt x="1875129" y="200952"/>
                </a:lnTo>
                <a:lnTo>
                  <a:pt x="1875129" y="204292"/>
                </a:lnTo>
                <a:lnTo>
                  <a:pt x="1875129" y="204609"/>
                </a:lnTo>
                <a:lnTo>
                  <a:pt x="1875129" y="207962"/>
                </a:lnTo>
                <a:lnTo>
                  <a:pt x="1875040" y="211302"/>
                </a:lnTo>
                <a:lnTo>
                  <a:pt x="1874875" y="214642"/>
                </a:lnTo>
                <a:lnTo>
                  <a:pt x="1874710" y="217982"/>
                </a:lnTo>
                <a:lnTo>
                  <a:pt x="1868995" y="254254"/>
                </a:lnTo>
                <a:lnTo>
                  <a:pt x="1868182" y="257505"/>
                </a:lnTo>
                <a:lnTo>
                  <a:pt x="1863178" y="273443"/>
                </a:lnTo>
                <a:lnTo>
                  <a:pt x="1862048" y="276593"/>
                </a:lnTo>
                <a:lnTo>
                  <a:pt x="1844332" y="312508"/>
                </a:lnTo>
                <a:lnTo>
                  <a:pt x="1819948" y="344284"/>
                </a:lnTo>
                <a:lnTo>
                  <a:pt x="1815274" y="349072"/>
                </a:lnTo>
                <a:lnTo>
                  <a:pt x="1812912" y="351434"/>
                </a:lnTo>
                <a:lnTo>
                  <a:pt x="1800428" y="362534"/>
                </a:lnTo>
                <a:lnTo>
                  <a:pt x="1797850" y="364667"/>
                </a:lnTo>
                <a:lnTo>
                  <a:pt x="1775853" y="379844"/>
                </a:lnTo>
                <a:lnTo>
                  <a:pt x="1772983" y="381571"/>
                </a:lnTo>
                <a:lnTo>
                  <a:pt x="1770075" y="383209"/>
                </a:lnTo>
                <a:lnTo>
                  <a:pt x="1767128" y="384784"/>
                </a:lnTo>
                <a:lnTo>
                  <a:pt x="1764182" y="386372"/>
                </a:lnTo>
                <a:lnTo>
                  <a:pt x="1761185" y="387870"/>
                </a:lnTo>
                <a:lnTo>
                  <a:pt x="1758162" y="389293"/>
                </a:lnTo>
                <a:lnTo>
                  <a:pt x="1755140" y="390728"/>
                </a:lnTo>
                <a:lnTo>
                  <a:pt x="1752092" y="392087"/>
                </a:lnTo>
                <a:lnTo>
                  <a:pt x="1749005" y="393357"/>
                </a:lnTo>
                <a:lnTo>
                  <a:pt x="1745919" y="394639"/>
                </a:lnTo>
                <a:lnTo>
                  <a:pt x="1730121" y="400113"/>
                </a:lnTo>
                <a:lnTo>
                  <a:pt x="1726920" y="401091"/>
                </a:lnTo>
                <a:lnTo>
                  <a:pt x="1690839" y="407923"/>
                </a:lnTo>
                <a:lnTo>
                  <a:pt x="1687512" y="408254"/>
                </a:lnTo>
                <a:lnTo>
                  <a:pt x="1684185" y="408508"/>
                </a:lnTo>
                <a:lnTo>
                  <a:pt x="1680845" y="408673"/>
                </a:lnTo>
                <a:lnTo>
                  <a:pt x="1677504" y="408825"/>
                </a:lnTo>
                <a:lnTo>
                  <a:pt x="1674164" y="408914"/>
                </a:lnTo>
                <a:lnTo>
                  <a:pt x="1670824" y="408914"/>
                </a:lnTo>
                <a:lnTo>
                  <a:pt x="204292" y="408914"/>
                </a:lnTo>
                <a:lnTo>
                  <a:pt x="200952" y="408914"/>
                </a:lnTo>
                <a:lnTo>
                  <a:pt x="197612" y="408825"/>
                </a:lnTo>
                <a:lnTo>
                  <a:pt x="194271" y="408673"/>
                </a:lnTo>
                <a:lnTo>
                  <a:pt x="190931" y="408508"/>
                </a:lnTo>
                <a:lnTo>
                  <a:pt x="187591" y="408254"/>
                </a:lnTo>
                <a:lnTo>
                  <a:pt x="184264" y="407923"/>
                </a:lnTo>
                <a:lnTo>
                  <a:pt x="180936" y="407606"/>
                </a:lnTo>
                <a:lnTo>
                  <a:pt x="144983" y="400113"/>
                </a:lnTo>
                <a:lnTo>
                  <a:pt x="141782" y="399148"/>
                </a:lnTo>
                <a:lnTo>
                  <a:pt x="126111" y="393357"/>
                </a:lnTo>
                <a:lnTo>
                  <a:pt x="123024" y="392087"/>
                </a:lnTo>
                <a:lnTo>
                  <a:pt x="119964" y="390728"/>
                </a:lnTo>
                <a:lnTo>
                  <a:pt x="116941" y="389293"/>
                </a:lnTo>
                <a:lnTo>
                  <a:pt x="113919" y="387870"/>
                </a:lnTo>
                <a:lnTo>
                  <a:pt x="110934" y="386372"/>
                </a:lnTo>
                <a:lnTo>
                  <a:pt x="107988" y="384784"/>
                </a:lnTo>
                <a:lnTo>
                  <a:pt x="105041" y="383209"/>
                </a:lnTo>
                <a:lnTo>
                  <a:pt x="102133" y="381571"/>
                </a:lnTo>
                <a:lnTo>
                  <a:pt x="99263" y="379844"/>
                </a:lnTo>
                <a:lnTo>
                  <a:pt x="96393" y="378129"/>
                </a:lnTo>
                <a:lnTo>
                  <a:pt x="93573" y="376339"/>
                </a:lnTo>
                <a:lnTo>
                  <a:pt x="90792" y="374484"/>
                </a:lnTo>
                <a:lnTo>
                  <a:pt x="88011" y="372630"/>
                </a:lnTo>
                <a:lnTo>
                  <a:pt x="74688" y="362534"/>
                </a:lnTo>
                <a:lnTo>
                  <a:pt x="72097" y="360413"/>
                </a:lnTo>
                <a:lnTo>
                  <a:pt x="59829" y="349072"/>
                </a:lnTo>
                <a:lnTo>
                  <a:pt x="57467" y="346710"/>
                </a:lnTo>
                <a:lnTo>
                  <a:pt x="55168" y="344284"/>
                </a:lnTo>
                <a:lnTo>
                  <a:pt x="52920" y="341807"/>
                </a:lnTo>
                <a:lnTo>
                  <a:pt x="50673" y="339331"/>
                </a:lnTo>
                <a:lnTo>
                  <a:pt x="40195" y="326313"/>
                </a:lnTo>
                <a:lnTo>
                  <a:pt x="38201" y="323634"/>
                </a:lnTo>
                <a:lnTo>
                  <a:pt x="36283" y="320890"/>
                </a:lnTo>
                <a:lnTo>
                  <a:pt x="34429" y="318122"/>
                </a:lnTo>
                <a:lnTo>
                  <a:pt x="32562" y="315341"/>
                </a:lnTo>
                <a:lnTo>
                  <a:pt x="19608" y="291960"/>
                </a:lnTo>
                <a:lnTo>
                  <a:pt x="18173" y="288937"/>
                </a:lnTo>
                <a:lnTo>
                  <a:pt x="16827" y="285889"/>
                </a:lnTo>
                <a:lnTo>
                  <a:pt x="15544" y="282790"/>
                </a:lnTo>
                <a:lnTo>
                  <a:pt x="14262" y="279704"/>
                </a:lnTo>
                <a:lnTo>
                  <a:pt x="6121" y="254254"/>
                </a:lnTo>
                <a:lnTo>
                  <a:pt x="5308" y="251015"/>
                </a:lnTo>
                <a:lnTo>
                  <a:pt x="4572" y="247751"/>
                </a:lnTo>
                <a:lnTo>
                  <a:pt x="3924" y="244475"/>
                </a:lnTo>
                <a:lnTo>
                  <a:pt x="3263" y="241198"/>
                </a:lnTo>
                <a:lnTo>
                  <a:pt x="2692" y="237896"/>
                </a:lnTo>
                <a:lnTo>
                  <a:pt x="2209" y="234594"/>
                </a:lnTo>
                <a:lnTo>
                  <a:pt x="1714" y="231279"/>
                </a:lnTo>
                <a:lnTo>
                  <a:pt x="1308" y="227965"/>
                </a:lnTo>
                <a:lnTo>
                  <a:pt x="977" y="224637"/>
                </a:lnTo>
                <a:lnTo>
                  <a:pt x="647" y="221310"/>
                </a:lnTo>
                <a:lnTo>
                  <a:pt x="406" y="217982"/>
                </a:lnTo>
                <a:lnTo>
                  <a:pt x="241" y="214642"/>
                </a:lnTo>
                <a:lnTo>
                  <a:pt x="76" y="211302"/>
                </a:lnTo>
                <a:lnTo>
                  <a:pt x="0" y="207962"/>
                </a:lnTo>
                <a:lnTo>
                  <a:pt x="0" y="204609"/>
                </a:lnTo>
                <a:lnTo>
                  <a:pt x="0" y="204292"/>
                </a:lnTo>
                <a:lnTo>
                  <a:pt x="0" y="200952"/>
                </a:lnTo>
                <a:lnTo>
                  <a:pt x="76" y="197612"/>
                </a:lnTo>
                <a:lnTo>
                  <a:pt x="241" y="194271"/>
                </a:lnTo>
                <a:lnTo>
                  <a:pt x="406" y="190931"/>
                </a:lnTo>
                <a:lnTo>
                  <a:pt x="647" y="187604"/>
                </a:lnTo>
                <a:lnTo>
                  <a:pt x="977" y="184277"/>
                </a:lnTo>
                <a:lnTo>
                  <a:pt x="1308" y="180949"/>
                </a:lnTo>
                <a:lnTo>
                  <a:pt x="1714" y="177634"/>
                </a:lnTo>
                <a:lnTo>
                  <a:pt x="2209" y="174320"/>
                </a:lnTo>
                <a:lnTo>
                  <a:pt x="2692" y="171018"/>
                </a:lnTo>
                <a:lnTo>
                  <a:pt x="3263" y="167716"/>
                </a:lnTo>
                <a:lnTo>
                  <a:pt x="3924" y="164439"/>
                </a:lnTo>
                <a:lnTo>
                  <a:pt x="4572" y="161163"/>
                </a:lnTo>
                <a:lnTo>
                  <a:pt x="5308" y="157899"/>
                </a:lnTo>
                <a:lnTo>
                  <a:pt x="6121" y="154660"/>
                </a:lnTo>
                <a:lnTo>
                  <a:pt x="6934" y="151409"/>
                </a:lnTo>
                <a:lnTo>
                  <a:pt x="19608" y="116954"/>
                </a:lnTo>
                <a:lnTo>
                  <a:pt x="21043" y="113931"/>
                </a:lnTo>
                <a:lnTo>
                  <a:pt x="34429" y="90792"/>
                </a:lnTo>
                <a:lnTo>
                  <a:pt x="36283" y="88011"/>
                </a:lnTo>
                <a:lnTo>
                  <a:pt x="38201" y="85280"/>
                </a:lnTo>
                <a:lnTo>
                  <a:pt x="40195" y="82600"/>
                </a:lnTo>
                <a:lnTo>
                  <a:pt x="42189" y="79908"/>
                </a:lnTo>
                <a:lnTo>
                  <a:pt x="59829" y="59842"/>
                </a:lnTo>
                <a:lnTo>
                  <a:pt x="62191" y="57467"/>
                </a:lnTo>
                <a:lnTo>
                  <a:pt x="74688" y="46367"/>
                </a:lnTo>
                <a:lnTo>
                  <a:pt x="77266" y="44246"/>
                </a:lnTo>
                <a:lnTo>
                  <a:pt x="90792" y="34429"/>
                </a:lnTo>
                <a:lnTo>
                  <a:pt x="93573" y="32575"/>
                </a:lnTo>
                <a:lnTo>
                  <a:pt x="96393" y="30784"/>
                </a:lnTo>
                <a:lnTo>
                  <a:pt x="99263" y="29070"/>
                </a:lnTo>
                <a:lnTo>
                  <a:pt x="102133" y="27343"/>
                </a:lnTo>
                <a:lnTo>
                  <a:pt x="138620" y="10820"/>
                </a:lnTo>
                <a:lnTo>
                  <a:pt x="144983" y="8801"/>
                </a:lnTo>
                <a:lnTo>
                  <a:pt x="148183" y="7823"/>
                </a:lnTo>
                <a:lnTo>
                  <a:pt x="164439" y="3924"/>
                </a:lnTo>
                <a:lnTo>
                  <a:pt x="167716" y="3276"/>
                </a:lnTo>
                <a:lnTo>
                  <a:pt x="171005" y="2705"/>
                </a:lnTo>
                <a:lnTo>
                  <a:pt x="174320" y="2209"/>
                </a:lnTo>
                <a:lnTo>
                  <a:pt x="177622" y="1714"/>
                </a:lnTo>
                <a:lnTo>
                  <a:pt x="194271" y="241"/>
                </a:lnTo>
                <a:lnTo>
                  <a:pt x="197612" y="76"/>
                </a:lnTo>
                <a:lnTo>
                  <a:pt x="200952" y="0"/>
                </a:lnTo>
                <a:lnTo>
                  <a:pt x="204292" y="0"/>
                </a:lnTo>
                <a:close/>
              </a:path>
            </a:pathLst>
          </a:custGeom>
          <a:ln w="1570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2434" y="2919925"/>
            <a:ext cx="1875155" cy="408940"/>
          </a:xfrm>
          <a:custGeom>
            <a:avLst/>
            <a:gdLst/>
            <a:ahLst/>
            <a:cxnLst/>
            <a:rect l="l" t="t" r="r" b="b"/>
            <a:pathLst>
              <a:path w="1875155" h="408939">
                <a:moveTo>
                  <a:pt x="204292" y="0"/>
                </a:moveTo>
                <a:lnTo>
                  <a:pt x="1670824" y="0"/>
                </a:lnTo>
                <a:lnTo>
                  <a:pt x="1674164" y="0"/>
                </a:lnTo>
                <a:lnTo>
                  <a:pt x="1677504" y="76"/>
                </a:lnTo>
                <a:lnTo>
                  <a:pt x="1700796" y="2209"/>
                </a:lnTo>
                <a:lnTo>
                  <a:pt x="1704111" y="2705"/>
                </a:lnTo>
                <a:lnTo>
                  <a:pt x="1730121" y="8801"/>
                </a:lnTo>
                <a:lnTo>
                  <a:pt x="1733321" y="9766"/>
                </a:lnTo>
                <a:lnTo>
                  <a:pt x="1770075" y="25704"/>
                </a:lnTo>
                <a:lnTo>
                  <a:pt x="1775853" y="29070"/>
                </a:lnTo>
                <a:lnTo>
                  <a:pt x="1778723" y="30784"/>
                </a:lnTo>
                <a:lnTo>
                  <a:pt x="1800428" y="46367"/>
                </a:lnTo>
                <a:lnTo>
                  <a:pt x="1803019" y="48488"/>
                </a:lnTo>
                <a:lnTo>
                  <a:pt x="1815274" y="59842"/>
                </a:lnTo>
                <a:lnTo>
                  <a:pt x="1817649" y="62204"/>
                </a:lnTo>
                <a:lnTo>
                  <a:pt x="1840687" y="90792"/>
                </a:lnTo>
                <a:lnTo>
                  <a:pt x="1842541" y="93573"/>
                </a:lnTo>
                <a:lnTo>
                  <a:pt x="1860842" y="129209"/>
                </a:lnTo>
                <a:lnTo>
                  <a:pt x="1863178" y="135470"/>
                </a:lnTo>
                <a:lnTo>
                  <a:pt x="1864309" y="138620"/>
                </a:lnTo>
                <a:lnTo>
                  <a:pt x="1868995" y="154660"/>
                </a:lnTo>
                <a:lnTo>
                  <a:pt x="1869808" y="157899"/>
                </a:lnTo>
                <a:lnTo>
                  <a:pt x="1874139" y="184277"/>
                </a:lnTo>
                <a:lnTo>
                  <a:pt x="1874469" y="187604"/>
                </a:lnTo>
                <a:lnTo>
                  <a:pt x="1874710" y="190931"/>
                </a:lnTo>
                <a:lnTo>
                  <a:pt x="1874875" y="194271"/>
                </a:lnTo>
                <a:lnTo>
                  <a:pt x="1875040" y="197612"/>
                </a:lnTo>
                <a:lnTo>
                  <a:pt x="1875129" y="200952"/>
                </a:lnTo>
                <a:lnTo>
                  <a:pt x="1875129" y="204292"/>
                </a:lnTo>
                <a:lnTo>
                  <a:pt x="1875129" y="204609"/>
                </a:lnTo>
                <a:lnTo>
                  <a:pt x="1875129" y="207962"/>
                </a:lnTo>
                <a:lnTo>
                  <a:pt x="1875040" y="211302"/>
                </a:lnTo>
                <a:lnTo>
                  <a:pt x="1874875" y="214642"/>
                </a:lnTo>
                <a:lnTo>
                  <a:pt x="1874710" y="217982"/>
                </a:lnTo>
                <a:lnTo>
                  <a:pt x="1874469" y="221310"/>
                </a:lnTo>
                <a:lnTo>
                  <a:pt x="1874139" y="224637"/>
                </a:lnTo>
                <a:lnTo>
                  <a:pt x="1873808" y="227965"/>
                </a:lnTo>
                <a:lnTo>
                  <a:pt x="1868995" y="254254"/>
                </a:lnTo>
                <a:lnTo>
                  <a:pt x="1868182" y="257505"/>
                </a:lnTo>
                <a:lnTo>
                  <a:pt x="1863178" y="273443"/>
                </a:lnTo>
                <a:lnTo>
                  <a:pt x="1862048" y="276593"/>
                </a:lnTo>
                <a:lnTo>
                  <a:pt x="1844332" y="312508"/>
                </a:lnTo>
                <a:lnTo>
                  <a:pt x="1819948" y="344284"/>
                </a:lnTo>
                <a:lnTo>
                  <a:pt x="1815274" y="349072"/>
                </a:lnTo>
                <a:lnTo>
                  <a:pt x="1812912" y="351434"/>
                </a:lnTo>
                <a:lnTo>
                  <a:pt x="1800428" y="362534"/>
                </a:lnTo>
                <a:lnTo>
                  <a:pt x="1797850" y="364667"/>
                </a:lnTo>
                <a:lnTo>
                  <a:pt x="1784324" y="374484"/>
                </a:lnTo>
                <a:lnTo>
                  <a:pt x="1781543" y="376339"/>
                </a:lnTo>
                <a:lnTo>
                  <a:pt x="1778723" y="378129"/>
                </a:lnTo>
                <a:lnTo>
                  <a:pt x="1775853" y="379844"/>
                </a:lnTo>
                <a:lnTo>
                  <a:pt x="1772983" y="381571"/>
                </a:lnTo>
                <a:lnTo>
                  <a:pt x="1770075" y="383209"/>
                </a:lnTo>
                <a:lnTo>
                  <a:pt x="1767128" y="384784"/>
                </a:lnTo>
                <a:lnTo>
                  <a:pt x="1764182" y="386372"/>
                </a:lnTo>
                <a:lnTo>
                  <a:pt x="1761185" y="387870"/>
                </a:lnTo>
                <a:lnTo>
                  <a:pt x="1758162" y="389293"/>
                </a:lnTo>
                <a:lnTo>
                  <a:pt x="1755139" y="390728"/>
                </a:lnTo>
                <a:lnTo>
                  <a:pt x="1752091" y="392087"/>
                </a:lnTo>
                <a:lnTo>
                  <a:pt x="1749005" y="393357"/>
                </a:lnTo>
                <a:lnTo>
                  <a:pt x="1745919" y="394639"/>
                </a:lnTo>
                <a:lnTo>
                  <a:pt x="1730121" y="400113"/>
                </a:lnTo>
                <a:lnTo>
                  <a:pt x="1726920" y="401091"/>
                </a:lnTo>
                <a:lnTo>
                  <a:pt x="1690839" y="407923"/>
                </a:lnTo>
                <a:lnTo>
                  <a:pt x="1687512" y="408254"/>
                </a:lnTo>
                <a:lnTo>
                  <a:pt x="1684185" y="408508"/>
                </a:lnTo>
                <a:lnTo>
                  <a:pt x="1680845" y="408673"/>
                </a:lnTo>
                <a:lnTo>
                  <a:pt x="1677504" y="408825"/>
                </a:lnTo>
                <a:lnTo>
                  <a:pt x="1674164" y="408914"/>
                </a:lnTo>
                <a:lnTo>
                  <a:pt x="1670824" y="408914"/>
                </a:lnTo>
                <a:lnTo>
                  <a:pt x="204292" y="408914"/>
                </a:lnTo>
                <a:lnTo>
                  <a:pt x="200952" y="408914"/>
                </a:lnTo>
                <a:lnTo>
                  <a:pt x="197611" y="408825"/>
                </a:lnTo>
                <a:lnTo>
                  <a:pt x="194271" y="408673"/>
                </a:lnTo>
                <a:lnTo>
                  <a:pt x="190931" y="408508"/>
                </a:lnTo>
                <a:lnTo>
                  <a:pt x="187591" y="408254"/>
                </a:lnTo>
                <a:lnTo>
                  <a:pt x="184264" y="407923"/>
                </a:lnTo>
                <a:lnTo>
                  <a:pt x="180936" y="407606"/>
                </a:lnTo>
                <a:lnTo>
                  <a:pt x="144983" y="400113"/>
                </a:lnTo>
                <a:lnTo>
                  <a:pt x="141782" y="399148"/>
                </a:lnTo>
                <a:lnTo>
                  <a:pt x="126111" y="393357"/>
                </a:lnTo>
                <a:lnTo>
                  <a:pt x="123024" y="392087"/>
                </a:lnTo>
                <a:lnTo>
                  <a:pt x="119964" y="390728"/>
                </a:lnTo>
                <a:lnTo>
                  <a:pt x="116941" y="389293"/>
                </a:lnTo>
                <a:lnTo>
                  <a:pt x="113918" y="387870"/>
                </a:lnTo>
                <a:lnTo>
                  <a:pt x="110934" y="386372"/>
                </a:lnTo>
                <a:lnTo>
                  <a:pt x="107988" y="384784"/>
                </a:lnTo>
                <a:lnTo>
                  <a:pt x="105041" y="383209"/>
                </a:lnTo>
                <a:lnTo>
                  <a:pt x="102133" y="381571"/>
                </a:lnTo>
                <a:lnTo>
                  <a:pt x="99263" y="379844"/>
                </a:lnTo>
                <a:lnTo>
                  <a:pt x="96392" y="378129"/>
                </a:lnTo>
                <a:lnTo>
                  <a:pt x="93573" y="376339"/>
                </a:lnTo>
                <a:lnTo>
                  <a:pt x="90792" y="374484"/>
                </a:lnTo>
                <a:lnTo>
                  <a:pt x="88010" y="372630"/>
                </a:lnTo>
                <a:lnTo>
                  <a:pt x="74688" y="362534"/>
                </a:lnTo>
                <a:lnTo>
                  <a:pt x="72097" y="360413"/>
                </a:lnTo>
                <a:lnTo>
                  <a:pt x="59829" y="349072"/>
                </a:lnTo>
                <a:lnTo>
                  <a:pt x="57467" y="346710"/>
                </a:lnTo>
                <a:lnTo>
                  <a:pt x="55168" y="344284"/>
                </a:lnTo>
                <a:lnTo>
                  <a:pt x="52920" y="341807"/>
                </a:lnTo>
                <a:lnTo>
                  <a:pt x="50672" y="339331"/>
                </a:lnTo>
                <a:lnTo>
                  <a:pt x="40195" y="326313"/>
                </a:lnTo>
                <a:lnTo>
                  <a:pt x="38201" y="323634"/>
                </a:lnTo>
                <a:lnTo>
                  <a:pt x="36283" y="320890"/>
                </a:lnTo>
                <a:lnTo>
                  <a:pt x="34429" y="318122"/>
                </a:lnTo>
                <a:lnTo>
                  <a:pt x="32562" y="315341"/>
                </a:lnTo>
                <a:lnTo>
                  <a:pt x="19608" y="291960"/>
                </a:lnTo>
                <a:lnTo>
                  <a:pt x="18173" y="288937"/>
                </a:lnTo>
                <a:lnTo>
                  <a:pt x="16827" y="285889"/>
                </a:lnTo>
                <a:lnTo>
                  <a:pt x="15544" y="282790"/>
                </a:lnTo>
                <a:lnTo>
                  <a:pt x="14262" y="279704"/>
                </a:lnTo>
                <a:lnTo>
                  <a:pt x="6121" y="254254"/>
                </a:lnTo>
                <a:lnTo>
                  <a:pt x="5308" y="251015"/>
                </a:lnTo>
                <a:lnTo>
                  <a:pt x="4571" y="247751"/>
                </a:lnTo>
                <a:lnTo>
                  <a:pt x="3924" y="244475"/>
                </a:lnTo>
                <a:lnTo>
                  <a:pt x="3263" y="241198"/>
                </a:lnTo>
                <a:lnTo>
                  <a:pt x="2692" y="237896"/>
                </a:lnTo>
                <a:lnTo>
                  <a:pt x="2209" y="234594"/>
                </a:lnTo>
                <a:lnTo>
                  <a:pt x="1714" y="231279"/>
                </a:lnTo>
                <a:lnTo>
                  <a:pt x="1308" y="227965"/>
                </a:lnTo>
                <a:lnTo>
                  <a:pt x="977" y="224637"/>
                </a:lnTo>
                <a:lnTo>
                  <a:pt x="647" y="221310"/>
                </a:lnTo>
                <a:lnTo>
                  <a:pt x="406" y="217982"/>
                </a:lnTo>
                <a:lnTo>
                  <a:pt x="241" y="214642"/>
                </a:lnTo>
                <a:lnTo>
                  <a:pt x="76" y="211302"/>
                </a:lnTo>
                <a:lnTo>
                  <a:pt x="0" y="207962"/>
                </a:lnTo>
                <a:lnTo>
                  <a:pt x="0" y="204609"/>
                </a:lnTo>
                <a:lnTo>
                  <a:pt x="0" y="204292"/>
                </a:lnTo>
                <a:lnTo>
                  <a:pt x="0" y="200952"/>
                </a:lnTo>
                <a:lnTo>
                  <a:pt x="76" y="197612"/>
                </a:lnTo>
                <a:lnTo>
                  <a:pt x="241" y="194271"/>
                </a:lnTo>
                <a:lnTo>
                  <a:pt x="406" y="190931"/>
                </a:lnTo>
                <a:lnTo>
                  <a:pt x="647" y="187604"/>
                </a:lnTo>
                <a:lnTo>
                  <a:pt x="977" y="184277"/>
                </a:lnTo>
                <a:lnTo>
                  <a:pt x="1308" y="180949"/>
                </a:lnTo>
                <a:lnTo>
                  <a:pt x="1714" y="177634"/>
                </a:lnTo>
                <a:lnTo>
                  <a:pt x="2209" y="174320"/>
                </a:lnTo>
                <a:lnTo>
                  <a:pt x="2692" y="171018"/>
                </a:lnTo>
                <a:lnTo>
                  <a:pt x="3263" y="167716"/>
                </a:lnTo>
                <a:lnTo>
                  <a:pt x="3924" y="164439"/>
                </a:lnTo>
                <a:lnTo>
                  <a:pt x="4571" y="161163"/>
                </a:lnTo>
                <a:lnTo>
                  <a:pt x="5308" y="157899"/>
                </a:lnTo>
                <a:lnTo>
                  <a:pt x="6121" y="154660"/>
                </a:lnTo>
                <a:lnTo>
                  <a:pt x="6934" y="151409"/>
                </a:lnTo>
                <a:lnTo>
                  <a:pt x="19608" y="116954"/>
                </a:lnTo>
                <a:lnTo>
                  <a:pt x="21043" y="113931"/>
                </a:lnTo>
                <a:lnTo>
                  <a:pt x="34429" y="90792"/>
                </a:lnTo>
                <a:lnTo>
                  <a:pt x="36283" y="88011"/>
                </a:lnTo>
                <a:lnTo>
                  <a:pt x="38201" y="85280"/>
                </a:lnTo>
                <a:lnTo>
                  <a:pt x="40195" y="82600"/>
                </a:lnTo>
                <a:lnTo>
                  <a:pt x="42189" y="79908"/>
                </a:lnTo>
                <a:lnTo>
                  <a:pt x="59829" y="59842"/>
                </a:lnTo>
                <a:lnTo>
                  <a:pt x="62191" y="57467"/>
                </a:lnTo>
                <a:lnTo>
                  <a:pt x="74688" y="46367"/>
                </a:lnTo>
                <a:lnTo>
                  <a:pt x="77266" y="44246"/>
                </a:lnTo>
                <a:lnTo>
                  <a:pt x="90792" y="34429"/>
                </a:lnTo>
                <a:lnTo>
                  <a:pt x="93573" y="32575"/>
                </a:lnTo>
                <a:lnTo>
                  <a:pt x="96392" y="30784"/>
                </a:lnTo>
                <a:lnTo>
                  <a:pt x="99263" y="29070"/>
                </a:lnTo>
                <a:lnTo>
                  <a:pt x="102133" y="27343"/>
                </a:lnTo>
                <a:lnTo>
                  <a:pt x="138620" y="10820"/>
                </a:lnTo>
                <a:lnTo>
                  <a:pt x="144983" y="8801"/>
                </a:lnTo>
                <a:lnTo>
                  <a:pt x="148183" y="7823"/>
                </a:lnTo>
                <a:lnTo>
                  <a:pt x="164439" y="3924"/>
                </a:lnTo>
                <a:lnTo>
                  <a:pt x="167716" y="3276"/>
                </a:lnTo>
                <a:lnTo>
                  <a:pt x="171005" y="2705"/>
                </a:lnTo>
                <a:lnTo>
                  <a:pt x="174320" y="2209"/>
                </a:lnTo>
                <a:lnTo>
                  <a:pt x="177622" y="1714"/>
                </a:lnTo>
                <a:lnTo>
                  <a:pt x="194271" y="241"/>
                </a:lnTo>
                <a:lnTo>
                  <a:pt x="197611" y="76"/>
                </a:lnTo>
                <a:lnTo>
                  <a:pt x="200952" y="0"/>
                </a:lnTo>
                <a:lnTo>
                  <a:pt x="204292" y="0"/>
                </a:lnTo>
                <a:close/>
              </a:path>
            </a:pathLst>
          </a:custGeom>
          <a:ln w="1570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336523" y="2965128"/>
            <a:ext cx="2895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solidFill>
                  <a:srgbClr val="FFFFFF"/>
                </a:solidFill>
                <a:latin typeface="Azeret Mono"/>
                <a:cs typeface="Azeret Mono"/>
              </a:rPr>
              <a:t>03</a:t>
            </a:r>
            <a:endParaRPr sz="1600">
              <a:latin typeface="Azeret Mono"/>
              <a:cs typeface="Azeret Mo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84363" y="2965128"/>
            <a:ext cx="2895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solidFill>
                  <a:srgbClr val="FFFFFF"/>
                </a:solidFill>
                <a:latin typeface="Azeret Mono"/>
                <a:cs typeface="Azeret Mono"/>
              </a:rPr>
              <a:t>02</a:t>
            </a:r>
            <a:endParaRPr sz="1600">
              <a:latin typeface="Azeret Mono"/>
              <a:cs typeface="Azeret Mo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32203" y="2965128"/>
            <a:ext cx="2895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solidFill>
                  <a:srgbClr val="FFFFFF"/>
                </a:solidFill>
                <a:latin typeface="Azeret Mono"/>
                <a:cs typeface="Azeret Mono"/>
              </a:rPr>
              <a:t>01</a:t>
            </a:r>
            <a:endParaRPr sz="1600">
              <a:latin typeface="Azeret Mono"/>
              <a:cs typeface="Azeret Mon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095306" y="3028555"/>
            <a:ext cx="410845" cy="192405"/>
            <a:chOff x="13095306" y="3028555"/>
            <a:chExt cx="410845" cy="19240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00102" y="3028555"/>
              <a:ext cx="105917" cy="10670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3095306" y="3114423"/>
              <a:ext cx="410845" cy="106045"/>
            </a:xfrm>
            <a:custGeom>
              <a:avLst/>
              <a:gdLst/>
              <a:ahLst/>
              <a:cxnLst/>
              <a:rect l="l" t="t" r="r" b="b"/>
              <a:pathLst>
                <a:path w="410844" h="106044">
                  <a:moveTo>
                    <a:pt x="403860" y="0"/>
                  </a:moveTo>
                  <a:lnTo>
                    <a:pt x="7315" y="0"/>
                  </a:lnTo>
                  <a:lnTo>
                    <a:pt x="4787" y="1041"/>
                  </a:lnTo>
                  <a:lnTo>
                    <a:pt x="1054" y="4787"/>
                  </a:lnTo>
                  <a:lnTo>
                    <a:pt x="0" y="7315"/>
                  </a:lnTo>
                  <a:lnTo>
                    <a:pt x="0" y="9956"/>
                  </a:lnTo>
                  <a:lnTo>
                    <a:pt x="0" y="12598"/>
                  </a:lnTo>
                  <a:lnTo>
                    <a:pt x="1054" y="15125"/>
                  </a:lnTo>
                  <a:lnTo>
                    <a:pt x="4787" y="18872"/>
                  </a:lnTo>
                  <a:lnTo>
                    <a:pt x="7315" y="19913"/>
                  </a:lnTo>
                  <a:lnTo>
                    <a:pt x="375793" y="19913"/>
                  </a:lnTo>
                  <a:lnTo>
                    <a:pt x="303822" y="91884"/>
                  </a:lnTo>
                  <a:lnTo>
                    <a:pt x="303822" y="98183"/>
                  </a:lnTo>
                  <a:lnTo>
                    <a:pt x="311607" y="105968"/>
                  </a:lnTo>
                  <a:lnTo>
                    <a:pt x="317906" y="105968"/>
                  </a:lnTo>
                  <a:lnTo>
                    <a:pt x="409727" y="14147"/>
                  </a:lnTo>
                  <a:lnTo>
                    <a:pt x="410578" y="9867"/>
                  </a:lnTo>
                  <a:lnTo>
                    <a:pt x="407492" y="2425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7243233" y="3028555"/>
            <a:ext cx="410845" cy="192405"/>
            <a:chOff x="7243233" y="3028555"/>
            <a:chExt cx="410845" cy="19240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027" y="3028555"/>
              <a:ext cx="105930" cy="10670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243233" y="3114423"/>
              <a:ext cx="410845" cy="106045"/>
            </a:xfrm>
            <a:custGeom>
              <a:avLst/>
              <a:gdLst/>
              <a:ahLst/>
              <a:cxnLst/>
              <a:rect l="l" t="t" r="r" b="b"/>
              <a:pathLst>
                <a:path w="410845" h="106044">
                  <a:moveTo>
                    <a:pt x="403860" y="0"/>
                  </a:moveTo>
                  <a:lnTo>
                    <a:pt x="7315" y="0"/>
                  </a:lnTo>
                  <a:lnTo>
                    <a:pt x="4787" y="1041"/>
                  </a:lnTo>
                  <a:lnTo>
                    <a:pt x="1041" y="4787"/>
                  </a:lnTo>
                  <a:lnTo>
                    <a:pt x="0" y="7315"/>
                  </a:lnTo>
                  <a:lnTo>
                    <a:pt x="0" y="9956"/>
                  </a:lnTo>
                  <a:lnTo>
                    <a:pt x="0" y="12598"/>
                  </a:lnTo>
                  <a:lnTo>
                    <a:pt x="1041" y="15125"/>
                  </a:lnTo>
                  <a:lnTo>
                    <a:pt x="4787" y="18872"/>
                  </a:lnTo>
                  <a:lnTo>
                    <a:pt x="7315" y="19913"/>
                  </a:lnTo>
                  <a:lnTo>
                    <a:pt x="375793" y="19913"/>
                  </a:lnTo>
                  <a:lnTo>
                    <a:pt x="303822" y="91884"/>
                  </a:lnTo>
                  <a:lnTo>
                    <a:pt x="303822" y="98183"/>
                  </a:lnTo>
                  <a:lnTo>
                    <a:pt x="311607" y="105968"/>
                  </a:lnTo>
                  <a:lnTo>
                    <a:pt x="317906" y="105968"/>
                  </a:lnTo>
                  <a:lnTo>
                    <a:pt x="409727" y="14147"/>
                  </a:lnTo>
                  <a:lnTo>
                    <a:pt x="410578" y="9867"/>
                  </a:lnTo>
                  <a:lnTo>
                    <a:pt x="407492" y="2425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1391163" y="3028555"/>
            <a:ext cx="410845" cy="192405"/>
            <a:chOff x="1391163" y="3028555"/>
            <a:chExt cx="410845" cy="192405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959" y="3028555"/>
              <a:ext cx="105930" cy="10670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391163" y="3114423"/>
              <a:ext cx="410845" cy="106045"/>
            </a:xfrm>
            <a:custGeom>
              <a:avLst/>
              <a:gdLst/>
              <a:ahLst/>
              <a:cxnLst/>
              <a:rect l="l" t="t" r="r" b="b"/>
              <a:pathLst>
                <a:path w="410844" h="106044">
                  <a:moveTo>
                    <a:pt x="403860" y="0"/>
                  </a:moveTo>
                  <a:lnTo>
                    <a:pt x="7315" y="0"/>
                  </a:lnTo>
                  <a:lnTo>
                    <a:pt x="4787" y="1041"/>
                  </a:lnTo>
                  <a:lnTo>
                    <a:pt x="1041" y="4787"/>
                  </a:lnTo>
                  <a:lnTo>
                    <a:pt x="0" y="7315"/>
                  </a:lnTo>
                  <a:lnTo>
                    <a:pt x="0" y="9956"/>
                  </a:lnTo>
                  <a:lnTo>
                    <a:pt x="0" y="12598"/>
                  </a:lnTo>
                  <a:lnTo>
                    <a:pt x="1041" y="15125"/>
                  </a:lnTo>
                  <a:lnTo>
                    <a:pt x="4787" y="18872"/>
                  </a:lnTo>
                  <a:lnTo>
                    <a:pt x="7315" y="19913"/>
                  </a:lnTo>
                  <a:lnTo>
                    <a:pt x="375793" y="19913"/>
                  </a:lnTo>
                  <a:lnTo>
                    <a:pt x="303822" y="91884"/>
                  </a:lnTo>
                  <a:lnTo>
                    <a:pt x="303822" y="98183"/>
                  </a:lnTo>
                  <a:lnTo>
                    <a:pt x="311607" y="105968"/>
                  </a:lnTo>
                  <a:lnTo>
                    <a:pt x="317906" y="105968"/>
                  </a:lnTo>
                  <a:lnTo>
                    <a:pt x="409727" y="14147"/>
                  </a:lnTo>
                  <a:lnTo>
                    <a:pt x="410578" y="9867"/>
                  </a:lnTo>
                  <a:lnTo>
                    <a:pt x="407492" y="2425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6397623" y="9392188"/>
            <a:ext cx="1011555" cy="3282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09</a:t>
            </a:r>
            <a:endParaRPr sz="19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0186" y="2837345"/>
            <a:ext cx="4829759" cy="3124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8328" y="2837345"/>
            <a:ext cx="4829759" cy="3124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470" y="2834779"/>
            <a:ext cx="4829759" cy="31267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3485" y="513962"/>
            <a:ext cx="253301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Market</a:t>
            </a:r>
            <a:r>
              <a:rPr dirty="0" sz="1900" spc="190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Business</a:t>
            </a:r>
            <a:endParaRPr sz="1900">
              <a:latin typeface="Muli"/>
              <a:cs typeface="Mul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dirty="0" spc="19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latin typeface="Azeret Mono"/>
                <a:cs typeface="Azeret Mono"/>
              </a:rPr>
              <a:t>Market</a:t>
            </a:r>
            <a:r>
              <a:rPr dirty="0" spc="-750">
                <a:latin typeface="Azeret Mono"/>
                <a:cs typeface="Azeret Mono"/>
              </a:rPr>
              <a:t> </a:t>
            </a:r>
            <a:r>
              <a:rPr dirty="0" spc="-310">
                <a:latin typeface="Azeret Mono"/>
                <a:cs typeface="Azeret Mono"/>
              </a:rPr>
              <a:t>Opportunity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47202" y="6179091"/>
            <a:ext cx="4805045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Regulation</a:t>
            </a:r>
            <a:r>
              <a:rPr dirty="0" sz="2800" spc="-13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drives</a:t>
            </a:r>
            <a:r>
              <a:rPr dirty="0" sz="2800" spc="-13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adoption</a:t>
            </a:r>
            <a:endParaRPr sz="2800">
              <a:latin typeface="Muli"/>
              <a:cs typeface="Muli"/>
            </a:endParaRPr>
          </a:p>
          <a:p>
            <a:pPr marL="228600" marR="405765" indent="-216535">
              <a:lnSpc>
                <a:spcPct val="100000"/>
              </a:lnSpc>
              <a:spcBef>
                <a:spcPts val="184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Stronger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oversight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pushes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teams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to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prove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security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before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launch.</a:t>
            </a:r>
            <a:endParaRPr sz="2000">
              <a:latin typeface="Muli"/>
              <a:cs typeface="Muli"/>
            </a:endParaRPr>
          </a:p>
          <a:p>
            <a:pPr marL="228600" marR="5080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Institutional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capital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raises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expectations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for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 b="1">
                <a:solidFill>
                  <a:srgbClr val="520E3A"/>
                </a:solidFill>
                <a:latin typeface="Muli"/>
                <a:cs typeface="Muli"/>
              </a:rPr>
              <a:t>audit-</a:t>
            </a:r>
            <a:r>
              <a:rPr dirty="0" sz="2000" b="1">
                <a:solidFill>
                  <a:srgbClr val="520E3A"/>
                </a:solidFill>
                <a:latin typeface="Muli"/>
                <a:cs typeface="Muli"/>
              </a:rPr>
              <a:t>grade</a:t>
            </a:r>
            <a:r>
              <a:rPr dirty="0" sz="2000" spc="-8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assurance.</a:t>
            </a:r>
            <a:endParaRPr sz="2000">
              <a:latin typeface="Muli"/>
              <a:cs typeface="Mul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5344" y="6179091"/>
            <a:ext cx="4775835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Beachhead</a:t>
            </a:r>
            <a:r>
              <a:rPr dirty="0" sz="2800" spc="-14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ecosystems</a:t>
            </a:r>
            <a:r>
              <a:rPr dirty="0" sz="2800" spc="-14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65" b="1">
                <a:solidFill>
                  <a:srgbClr val="520E3A"/>
                </a:solidFill>
                <a:latin typeface="Muli"/>
                <a:cs typeface="Muli"/>
              </a:rPr>
              <a:t>first</a:t>
            </a:r>
            <a:endParaRPr sz="2800">
              <a:latin typeface="Muli"/>
              <a:cs typeface="Muli"/>
            </a:endParaRPr>
          </a:p>
          <a:p>
            <a:pPr marL="228600" marR="33655" indent="-216535">
              <a:lnSpc>
                <a:spcPct val="100000"/>
              </a:lnSpc>
              <a:spcBef>
                <a:spcPts val="184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Start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where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most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contracts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ship: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Ethereum,</a:t>
            </a:r>
            <a:r>
              <a:rPr dirty="0" sz="2000" spc="-7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Solana,</a:t>
            </a:r>
            <a:r>
              <a:rPr dirty="0" sz="2000" spc="-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major</a:t>
            </a:r>
            <a:r>
              <a:rPr dirty="0" sz="2000" spc="-7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Layer</a:t>
            </a:r>
            <a:r>
              <a:rPr dirty="0" sz="2000" spc="-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2s.</a:t>
            </a:r>
            <a:endParaRPr sz="2000">
              <a:latin typeface="Muli"/>
              <a:cs typeface="Muli"/>
            </a:endParaRPr>
          </a:p>
          <a:p>
            <a:pPr marL="228600" marR="5080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Focus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on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the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developer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workflows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that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ship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fast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break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often.</a:t>
            </a:r>
            <a:endParaRPr sz="2000">
              <a:latin typeface="Muli"/>
              <a:cs typeface="Mul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485" y="6179091"/>
            <a:ext cx="4820285" cy="2578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A</a:t>
            </a:r>
            <a:r>
              <a:rPr dirty="0" sz="2800" spc="-8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growing</a:t>
            </a:r>
            <a:r>
              <a:rPr dirty="0" sz="2800" spc="-8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security</a:t>
            </a:r>
            <a:r>
              <a:rPr dirty="0" sz="2800" spc="-8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spend</a:t>
            </a:r>
            <a:endParaRPr sz="2800">
              <a:latin typeface="Muli"/>
              <a:cs typeface="Muli"/>
            </a:endParaRPr>
          </a:p>
          <a:p>
            <a:pPr marL="228600" marR="5080" indent="-216535">
              <a:lnSpc>
                <a:spcPct val="100000"/>
              </a:lnSpc>
              <a:spcBef>
                <a:spcPts val="184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Web3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keeps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expanding,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security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is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becoming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non-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negotiable infrastructure.</a:t>
            </a:r>
            <a:endParaRPr sz="2000">
              <a:latin typeface="Muli"/>
              <a:cs typeface="Muli"/>
            </a:endParaRPr>
          </a:p>
          <a:p>
            <a:pPr algn="just" marL="228600" marR="769620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Each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new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protocol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increases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risk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exposure</a:t>
            </a:r>
            <a:r>
              <a:rPr dirty="0" sz="2000" spc="-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demand</a:t>
            </a:r>
            <a:r>
              <a:rPr dirty="0" sz="2000" spc="-6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for</a:t>
            </a:r>
            <a:r>
              <a:rPr dirty="0" sz="2000" spc="-6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earlier checks.</a:t>
            </a:r>
            <a:endParaRPr sz="20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dirty="0" spc="19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5452" y="4335028"/>
          <a:ext cx="16551910" cy="2887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  <a:gridCol w="4114800"/>
                <a:gridCol w="4114800"/>
              </a:tblGrid>
              <a:tr h="73660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Revenue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stream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91135">
                    <a:solidFill>
                      <a:srgbClr val="FF533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Who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it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serves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91135">
                    <a:solidFill>
                      <a:srgbClr val="FF533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How</a:t>
                      </a:r>
                      <a:r>
                        <a:rPr dirty="0" sz="2000" spc="-35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it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charges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91135">
                    <a:solidFill>
                      <a:srgbClr val="FF533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Why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it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Muli"/>
                          <a:cs typeface="Muli"/>
                        </a:rPr>
                        <a:t>fits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91135">
                    <a:solidFill>
                      <a:srgbClr val="FF5336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000" b="1">
                          <a:solidFill>
                            <a:srgbClr val="FF5336"/>
                          </a:solidFill>
                          <a:latin typeface="Muli"/>
                          <a:cs typeface="Muli"/>
                        </a:rPr>
                        <a:t>SaaS </a:t>
                      </a:r>
                      <a:r>
                        <a:rPr dirty="0" sz="2000" spc="-10" b="1">
                          <a:solidFill>
                            <a:srgbClr val="FF5336"/>
                          </a:solidFill>
                          <a:latin typeface="Muli"/>
                          <a:cs typeface="Muli"/>
                        </a:rPr>
                        <a:t>subscriptions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74625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Indie</a:t>
                      </a:r>
                      <a:r>
                        <a:rPr dirty="0" sz="2000" spc="-3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devs</a:t>
                      </a:r>
                      <a:r>
                        <a:rPr dirty="0" sz="2000" spc="-2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and</a:t>
                      </a:r>
                      <a:r>
                        <a:rPr dirty="0" sz="2000" spc="-3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teams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74625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Monthly</a:t>
                      </a:r>
                      <a:r>
                        <a:rPr dirty="0" sz="2000" spc="-5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or</a:t>
                      </a:r>
                      <a:r>
                        <a:rPr dirty="0" sz="2000" spc="-5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annual</a:t>
                      </a:r>
                      <a:r>
                        <a:rPr dirty="0" sz="2000" spc="-5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tiers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74625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Predictable</a:t>
                      </a:r>
                      <a:r>
                        <a:rPr dirty="0" sz="2000" spc="-7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recurring</a:t>
                      </a:r>
                      <a:r>
                        <a:rPr dirty="0" sz="2000" spc="-7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revenue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74625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 spc="-35" b="1">
                          <a:solidFill>
                            <a:srgbClr val="FF5336"/>
                          </a:solidFill>
                          <a:latin typeface="Muli"/>
                          <a:cs typeface="Muli"/>
                        </a:rPr>
                        <a:t>Pay-</a:t>
                      </a:r>
                      <a:r>
                        <a:rPr dirty="0" sz="2000" spc="-25" b="1">
                          <a:solidFill>
                            <a:srgbClr val="FF5336"/>
                          </a:solidFill>
                          <a:latin typeface="Muli"/>
                          <a:cs typeface="Muli"/>
                        </a:rPr>
                        <a:t>per-</a:t>
                      </a:r>
                      <a:r>
                        <a:rPr dirty="0" sz="2000" spc="-20" b="1">
                          <a:solidFill>
                            <a:srgbClr val="FF5336"/>
                          </a:solidFill>
                          <a:latin typeface="Muli"/>
                          <a:cs typeface="Muli"/>
                        </a:rPr>
                        <a:t>scan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82880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Flexible</a:t>
                      </a:r>
                      <a:r>
                        <a:rPr dirty="0" sz="2000" spc="-4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or</a:t>
                      </a:r>
                      <a:r>
                        <a:rPr dirty="0" sz="2000" spc="-4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infrequent</a:t>
                      </a:r>
                      <a:r>
                        <a:rPr dirty="0" sz="2000" spc="-4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users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82880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Fee</a:t>
                      </a:r>
                      <a:r>
                        <a:rPr dirty="0" sz="2000" spc="-4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per</a:t>
                      </a:r>
                      <a:r>
                        <a:rPr dirty="0" sz="2000" spc="-4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contract</a:t>
                      </a:r>
                      <a:r>
                        <a:rPr dirty="0" sz="2000" spc="-4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2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scan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82880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 spc="-2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Low-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friction</a:t>
                      </a:r>
                      <a:r>
                        <a:rPr dirty="0" sz="2000" spc="-2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usage</a:t>
                      </a:r>
                      <a:r>
                        <a:rPr dirty="0" sz="2000" spc="-1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2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start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82880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 b="1">
                          <a:solidFill>
                            <a:srgbClr val="FF5336"/>
                          </a:solidFill>
                          <a:latin typeface="Muli"/>
                          <a:cs typeface="Muli"/>
                        </a:rPr>
                        <a:t>Enterprise</a:t>
                      </a:r>
                      <a:r>
                        <a:rPr dirty="0" sz="2000" spc="-100" b="1">
                          <a:solidFill>
                            <a:srgbClr val="FF5336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5336"/>
                          </a:solidFill>
                          <a:latin typeface="Muli"/>
                          <a:cs typeface="Muli"/>
                        </a:rPr>
                        <a:t>plans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82880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Protocols</a:t>
                      </a:r>
                      <a:r>
                        <a:rPr dirty="0" sz="2000" spc="-7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and</a:t>
                      </a:r>
                      <a:r>
                        <a:rPr dirty="0" sz="2000" spc="-6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large</a:t>
                      </a:r>
                      <a:r>
                        <a:rPr dirty="0" sz="2000" spc="-6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2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orgs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82880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Custom</a:t>
                      </a:r>
                      <a:r>
                        <a:rPr dirty="0" sz="2000" spc="-6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contract</a:t>
                      </a:r>
                      <a:r>
                        <a:rPr dirty="0" sz="2000" spc="-5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and</a:t>
                      </a:r>
                      <a:r>
                        <a:rPr dirty="0" sz="2000" spc="-5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invoicing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82880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Deeper</a:t>
                      </a:r>
                      <a:r>
                        <a:rPr dirty="0" sz="2000" spc="-45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workflow</a:t>
                      </a:r>
                      <a:r>
                        <a:rPr dirty="0" sz="2000" spc="-4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 </a:t>
                      </a:r>
                      <a:r>
                        <a:rPr dirty="0" sz="2000" spc="-10">
                          <a:solidFill>
                            <a:srgbClr val="30272D"/>
                          </a:solidFill>
                          <a:latin typeface="Muli"/>
                          <a:cs typeface="Muli"/>
                        </a:rPr>
                        <a:t>support</a:t>
                      </a:r>
                      <a:endParaRPr sz="2000">
                        <a:latin typeface="Muli"/>
                        <a:cs typeface="Muli"/>
                      </a:endParaRPr>
                    </a:p>
                  </a:txBody>
                  <a:tcPr marL="0" marR="0" marB="0" marT="182880">
                    <a:lnL w="19050">
                      <a:solidFill>
                        <a:srgbClr val="FF5336"/>
                      </a:solidFill>
                      <a:prstDash val="solid"/>
                    </a:lnL>
                    <a:lnR w="19050">
                      <a:solidFill>
                        <a:srgbClr val="FF5336"/>
                      </a:solidFill>
                      <a:prstDash val="solid"/>
                    </a:lnR>
                    <a:lnT w="19050">
                      <a:solidFill>
                        <a:srgbClr val="FF5336"/>
                      </a:solidFill>
                      <a:prstDash val="solid"/>
                    </a:lnT>
                    <a:lnB w="19050">
                      <a:solidFill>
                        <a:srgbClr val="FF533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5">
                <a:latin typeface="Azeret Mono"/>
                <a:cs typeface="Azeret Mono"/>
              </a:rPr>
              <a:t>Business</a:t>
            </a:r>
            <a:r>
              <a:rPr dirty="0" spc="-580">
                <a:latin typeface="Azeret Mono"/>
                <a:cs typeface="Azeret Mono"/>
              </a:rPr>
              <a:t> </a:t>
            </a:r>
            <a:r>
              <a:rPr dirty="0" spc="-320">
                <a:latin typeface="Azeret Mono"/>
                <a:cs typeface="Azeret Mono"/>
              </a:rPr>
              <a:t>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727315" cy="10287000"/>
          </a:xfrm>
          <a:custGeom>
            <a:avLst/>
            <a:gdLst/>
            <a:ahLst/>
            <a:cxnLst/>
            <a:rect l="l" t="t" r="r" b="b"/>
            <a:pathLst>
              <a:path w="7727315" h="10287000">
                <a:moveTo>
                  <a:pt x="7727188" y="0"/>
                </a:moveTo>
                <a:lnTo>
                  <a:pt x="0" y="0"/>
                </a:lnTo>
                <a:lnTo>
                  <a:pt x="0" y="10287000"/>
                </a:lnTo>
                <a:lnTo>
                  <a:pt x="7727188" y="10287000"/>
                </a:lnTo>
                <a:lnTo>
                  <a:pt x="7727188" y="0"/>
                </a:lnTo>
                <a:close/>
              </a:path>
            </a:pathLst>
          </a:custGeom>
          <a:solidFill>
            <a:srgbClr val="FF53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2828" y="3995710"/>
            <a:ext cx="5080000" cy="170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600"/>
              </a:lnSpc>
              <a:spcBef>
                <a:spcPts val="100"/>
              </a:spcBef>
            </a:pPr>
            <a:r>
              <a:rPr dirty="0" sz="6000" spc="-310">
                <a:solidFill>
                  <a:srgbClr val="FFFFFF"/>
                </a:solidFill>
                <a:latin typeface="Azeret Mono"/>
                <a:cs typeface="Azeret Mono"/>
              </a:rPr>
              <a:t>Competitive</a:t>
            </a:r>
            <a:endParaRPr sz="6000">
              <a:latin typeface="Azeret Mono"/>
              <a:cs typeface="Azeret Mono"/>
            </a:endParaRPr>
          </a:p>
          <a:p>
            <a:pPr marL="12700">
              <a:lnSpc>
                <a:spcPts val="6600"/>
              </a:lnSpc>
            </a:pPr>
            <a:r>
              <a:rPr dirty="0" sz="6000" spc="-310">
                <a:solidFill>
                  <a:srgbClr val="FFFFFF"/>
                </a:solidFill>
                <a:latin typeface="Azeret Mono"/>
                <a:cs typeface="Azeret Mono"/>
              </a:rPr>
              <a:t>Landscape</a:t>
            </a:r>
            <a:endParaRPr sz="6000">
              <a:latin typeface="Azeret Mono"/>
              <a:cs typeface="Azeret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76465" y="513962"/>
            <a:ext cx="253301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Market</a:t>
            </a:r>
            <a:r>
              <a:rPr dirty="0" sz="1900" spc="190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Business</a:t>
            </a:r>
            <a:endParaRPr sz="1900">
              <a:latin typeface="Muli"/>
              <a:cs typeface="Mul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88982" y="6588742"/>
            <a:ext cx="9101455" cy="2334260"/>
          </a:xfrm>
          <a:custGeom>
            <a:avLst/>
            <a:gdLst/>
            <a:ahLst/>
            <a:cxnLst/>
            <a:rect l="l" t="t" r="r" b="b"/>
            <a:pathLst>
              <a:path w="9101455" h="2334259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2190876"/>
                </a:lnTo>
                <a:lnTo>
                  <a:pt x="292" y="2200224"/>
                </a:lnTo>
                <a:lnTo>
                  <a:pt x="9144" y="2241219"/>
                </a:lnTo>
                <a:lnTo>
                  <a:pt x="29514" y="2277871"/>
                </a:lnTo>
                <a:lnTo>
                  <a:pt x="59639" y="2307031"/>
                </a:lnTo>
                <a:lnTo>
                  <a:pt x="99161" y="2326932"/>
                </a:lnTo>
                <a:lnTo>
                  <a:pt x="8960827" y="2333751"/>
                </a:lnTo>
                <a:lnTo>
                  <a:pt x="8974823" y="2332850"/>
                </a:lnTo>
                <a:lnTo>
                  <a:pt x="9015323" y="2321979"/>
                </a:lnTo>
                <a:lnTo>
                  <a:pt x="9056166" y="2295182"/>
                </a:lnTo>
                <a:lnTo>
                  <a:pt x="9083395" y="2260295"/>
                </a:lnTo>
                <a:lnTo>
                  <a:pt x="9099080" y="2216467"/>
                </a:lnTo>
                <a:lnTo>
                  <a:pt x="9101366" y="140538"/>
                </a:lnTo>
                <a:lnTo>
                  <a:pt x="9100451" y="126542"/>
                </a:lnTo>
                <a:lnTo>
                  <a:pt x="9089593" y="86042"/>
                </a:lnTo>
                <a:lnTo>
                  <a:pt x="9065920" y="48653"/>
                </a:lnTo>
                <a:lnTo>
                  <a:pt x="9029941" y="19126"/>
                </a:lnTo>
                <a:lnTo>
                  <a:pt x="8984068" y="2285"/>
                </a:lnTo>
                <a:lnTo>
                  <a:pt x="142875" y="0"/>
                </a:lnTo>
                <a:close/>
              </a:path>
            </a:pathLst>
          </a:custGeom>
          <a:solidFill>
            <a:srgbClr val="D8EF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88982" y="1349893"/>
            <a:ext cx="9101455" cy="2334260"/>
          </a:xfrm>
          <a:custGeom>
            <a:avLst/>
            <a:gdLst/>
            <a:ahLst/>
            <a:cxnLst/>
            <a:rect l="l" t="t" r="r" b="b"/>
            <a:pathLst>
              <a:path w="9101455" h="2334260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2190877"/>
                </a:lnTo>
                <a:lnTo>
                  <a:pt x="292" y="2200224"/>
                </a:lnTo>
                <a:lnTo>
                  <a:pt x="9144" y="2241219"/>
                </a:lnTo>
                <a:lnTo>
                  <a:pt x="33909" y="2283333"/>
                </a:lnTo>
                <a:lnTo>
                  <a:pt x="71424" y="2314638"/>
                </a:lnTo>
                <a:lnTo>
                  <a:pt x="117297" y="2331478"/>
                </a:lnTo>
                <a:lnTo>
                  <a:pt x="8960827" y="2333752"/>
                </a:lnTo>
                <a:lnTo>
                  <a:pt x="8974823" y="2332837"/>
                </a:lnTo>
                <a:lnTo>
                  <a:pt x="9015323" y="2321979"/>
                </a:lnTo>
                <a:lnTo>
                  <a:pt x="9056166" y="2295182"/>
                </a:lnTo>
                <a:lnTo>
                  <a:pt x="9083395" y="2260295"/>
                </a:lnTo>
                <a:lnTo>
                  <a:pt x="9099080" y="2216467"/>
                </a:lnTo>
                <a:lnTo>
                  <a:pt x="9101366" y="140538"/>
                </a:lnTo>
                <a:lnTo>
                  <a:pt x="9100451" y="126542"/>
                </a:lnTo>
                <a:lnTo>
                  <a:pt x="9089593" y="86042"/>
                </a:lnTo>
                <a:lnTo>
                  <a:pt x="9065920" y="48653"/>
                </a:lnTo>
                <a:lnTo>
                  <a:pt x="9029941" y="19126"/>
                </a:lnTo>
                <a:lnTo>
                  <a:pt x="8984068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D8EF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99846" y="3965666"/>
            <a:ext cx="9090660" cy="2334260"/>
          </a:xfrm>
          <a:custGeom>
            <a:avLst/>
            <a:gdLst/>
            <a:ahLst/>
            <a:cxnLst/>
            <a:rect l="l" t="t" r="r" b="b"/>
            <a:pathLst>
              <a:path w="9090660" h="2334260">
                <a:moveTo>
                  <a:pt x="142875" y="0"/>
                </a:moveTo>
                <a:lnTo>
                  <a:pt x="90360" y="9982"/>
                </a:lnTo>
                <a:lnTo>
                  <a:pt x="48653" y="35445"/>
                </a:lnTo>
                <a:lnTo>
                  <a:pt x="19126" y="71424"/>
                </a:lnTo>
                <a:lnTo>
                  <a:pt x="2285" y="117297"/>
                </a:lnTo>
                <a:lnTo>
                  <a:pt x="0" y="2190877"/>
                </a:lnTo>
                <a:lnTo>
                  <a:pt x="292" y="2200224"/>
                </a:lnTo>
                <a:lnTo>
                  <a:pt x="9144" y="2241219"/>
                </a:lnTo>
                <a:lnTo>
                  <a:pt x="33909" y="2283320"/>
                </a:lnTo>
                <a:lnTo>
                  <a:pt x="67411" y="2312225"/>
                </a:lnTo>
                <a:lnTo>
                  <a:pt x="117297" y="2331478"/>
                </a:lnTo>
                <a:lnTo>
                  <a:pt x="8947619" y="2333752"/>
                </a:lnTo>
                <a:lnTo>
                  <a:pt x="8956967" y="2333472"/>
                </a:lnTo>
                <a:lnTo>
                  <a:pt x="8997962" y="2324620"/>
                </a:lnTo>
                <a:lnTo>
                  <a:pt x="9034614" y="2304249"/>
                </a:lnTo>
                <a:lnTo>
                  <a:pt x="9063774" y="2274112"/>
                </a:lnTo>
                <a:lnTo>
                  <a:pt x="9083675" y="2234590"/>
                </a:lnTo>
                <a:lnTo>
                  <a:pt x="9090494" y="142875"/>
                </a:lnTo>
                <a:lnTo>
                  <a:pt x="9090215" y="133527"/>
                </a:lnTo>
                <a:lnTo>
                  <a:pt x="9080512" y="90360"/>
                </a:lnTo>
                <a:lnTo>
                  <a:pt x="9056585" y="50431"/>
                </a:lnTo>
                <a:lnTo>
                  <a:pt x="9019070" y="19126"/>
                </a:lnTo>
                <a:lnTo>
                  <a:pt x="8973210" y="2286"/>
                </a:lnTo>
                <a:lnTo>
                  <a:pt x="142875" y="0"/>
                </a:lnTo>
                <a:close/>
              </a:path>
            </a:pathLst>
          </a:custGeom>
          <a:solidFill>
            <a:srgbClr val="D8EF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57878" y="6808301"/>
            <a:ext cx="5078095" cy="1763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Investor</a:t>
            </a:r>
            <a:r>
              <a:rPr dirty="0" sz="2500" spc="-8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500" spc="-10" b="1">
                <a:solidFill>
                  <a:srgbClr val="520E3A"/>
                </a:solidFill>
                <a:latin typeface="Muli"/>
                <a:cs typeface="Muli"/>
              </a:rPr>
              <a:t>takeaway</a:t>
            </a:r>
            <a:endParaRPr sz="2500">
              <a:latin typeface="Muli"/>
              <a:cs typeface="Muli"/>
            </a:endParaRPr>
          </a:p>
          <a:p>
            <a:pPr marL="204470" marR="492759" indent="-192405">
              <a:lnSpc>
                <a:spcPct val="102200"/>
              </a:lnSpc>
              <a:spcBef>
                <a:spcPts val="1635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Make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security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analysis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more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b="1">
                <a:solidFill>
                  <a:srgbClr val="520E3A"/>
                </a:solidFill>
                <a:latin typeface="Muli"/>
                <a:cs typeface="Muli"/>
              </a:rPr>
              <a:t>scalable</a:t>
            </a:r>
            <a:r>
              <a:rPr dirty="0" sz="1750" spc="7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and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accessible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for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more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teams.</a:t>
            </a:r>
            <a:endParaRPr sz="1750">
              <a:latin typeface="Muli"/>
              <a:cs typeface="Muli"/>
            </a:endParaRPr>
          </a:p>
          <a:p>
            <a:pPr marL="204470" marR="5080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Lower</a:t>
            </a:r>
            <a:r>
              <a:rPr dirty="0" sz="1750" spc="8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cost</a:t>
            </a:r>
            <a:r>
              <a:rPr dirty="0" sz="1750" spc="8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to</a:t>
            </a:r>
            <a:r>
              <a:rPr dirty="0" sz="1750" spc="8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secure</a:t>
            </a:r>
            <a:r>
              <a:rPr dirty="0" sz="1750" spc="8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releases,</a:t>
            </a:r>
            <a:r>
              <a:rPr dirty="0" sz="1750" spc="8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while</a:t>
            </a:r>
            <a:r>
              <a:rPr dirty="0" sz="1750" spc="8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improving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overall</a:t>
            </a:r>
            <a:r>
              <a:rPr dirty="0" sz="1750" spc="1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on-chain</a:t>
            </a:r>
            <a:r>
              <a:rPr dirty="0" sz="1750" spc="1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trust.</a:t>
            </a:r>
            <a:endParaRPr sz="1750">
              <a:latin typeface="Muli"/>
              <a:cs typeface="Mul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8532" rIns="0" bIns="0" rtlCol="0" vert="horz">
            <a:spAutoFit/>
          </a:bodyPr>
          <a:lstStyle/>
          <a:p>
            <a:pPr marL="7766684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Incumbents</a:t>
            </a:r>
            <a:r>
              <a:rPr dirty="0" sz="2500" spc="-15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500" spc="-10" b="1">
                <a:solidFill>
                  <a:srgbClr val="520E3A"/>
                </a:solidFill>
                <a:latin typeface="Muli"/>
                <a:cs typeface="Muli"/>
              </a:rPr>
              <a:t>today</a:t>
            </a:r>
            <a:endParaRPr sz="2500">
              <a:latin typeface="Muli"/>
              <a:cs typeface="Mul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57878" y="2160133"/>
            <a:ext cx="5224780" cy="1172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4470" marR="5080" indent="-192405">
              <a:lnSpc>
                <a:spcPct val="102200"/>
              </a:lnSpc>
              <a:spcBef>
                <a:spcPts val="9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Teams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choose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CertiK,</a:t>
            </a:r>
            <a:r>
              <a:rPr dirty="0" sz="1750" spc="114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ConsenSys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Diligence,</a:t>
            </a:r>
            <a:r>
              <a:rPr dirty="0" sz="1750" spc="11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and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Hacken</a:t>
            </a:r>
            <a:r>
              <a:rPr dirty="0" sz="1750" spc="7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for</a:t>
            </a:r>
            <a:r>
              <a:rPr dirty="0" sz="1750" spc="8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audits.</a:t>
            </a:r>
            <a:endParaRPr sz="1750">
              <a:latin typeface="Muli"/>
              <a:cs typeface="Muli"/>
            </a:endParaRPr>
          </a:p>
          <a:p>
            <a:pPr marL="204470" marR="577215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Developers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use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Slither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Mythril</a:t>
            </a:r>
            <a:r>
              <a:rPr dirty="0" sz="1750" spc="10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for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fast,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tool-based</a:t>
            </a:r>
            <a:r>
              <a:rPr dirty="0" sz="1750" spc="18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checks.</a:t>
            </a:r>
            <a:endParaRPr sz="1750">
              <a:latin typeface="Muli"/>
              <a:cs typeface="Mul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06608" y="4222283"/>
            <a:ext cx="5299075" cy="1763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Where</a:t>
            </a:r>
            <a:r>
              <a:rPr dirty="0" sz="2500" spc="-2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500" b="1">
                <a:solidFill>
                  <a:srgbClr val="520E3A"/>
                </a:solidFill>
                <a:latin typeface="Muli"/>
                <a:cs typeface="Muli"/>
              </a:rPr>
              <a:t>Securithm</a:t>
            </a:r>
            <a:r>
              <a:rPr dirty="0" sz="2500" spc="-20" b="1">
                <a:solidFill>
                  <a:srgbClr val="520E3A"/>
                </a:solidFill>
                <a:latin typeface="Muli"/>
                <a:cs typeface="Muli"/>
              </a:rPr>
              <a:t> wins</a:t>
            </a:r>
            <a:endParaRPr sz="2500">
              <a:latin typeface="Muli"/>
              <a:cs typeface="Muli"/>
            </a:endParaRPr>
          </a:p>
          <a:p>
            <a:pPr marL="204470" marR="5080" indent="-192405">
              <a:lnSpc>
                <a:spcPct val="102200"/>
              </a:lnSpc>
              <a:spcBef>
                <a:spcPts val="1635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Deliver</a:t>
            </a:r>
            <a:r>
              <a:rPr dirty="0" sz="1750" spc="1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b="1">
                <a:solidFill>
                  <a:srgbClr val="520E3A"/>
                </a:solidFill>
                <a:latin typeface="Muli"/>
                <a:cs typeface="Muli"/>
              </a:rPr>
              <a:t>automated</a:t>
            </a:r>
            <a:r>
              <a:rPr dirty="0" sz="1750" spc="10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findings</a:t>
            </a:r>
            <a:r>
              <a:rPr dirty="0" sz="1750" spc="1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quickly,</a:t>
            </a:r>
            <a:r>
              <a:rPr dirty="0" sz="1750" spc="12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without</a:t>
            </a:r>
            <a:r>
              <a:rPr dirty="0" sz="1750" spc="1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20">
                <a:solidFill>
                  <a:srgbClr val="30272D"/>
                </a:solidFill>
                <a:latin typeface="Muli"/>
                <a:cs typeface="Muli"/>
              </a:rPr>
              <a:t>long </a:t>
            </a:r>
            <a:r>
              <a:rPr dirty="0" sz="1750" spc="-20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audit</a:t>
            </a:r>
            <a:r>
              <a:rPr dirty="0" sz="1750" spc="9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30272D"/>
                </a:solidFill>
                <a:latin typeface="Muli"/>
                <a:cs typeface="Muli"/>
              </a:rPr>
              <a:t>cycles.</a:t>
            </a:r>
            <a:endParaRPr sz="1750">
              <a:latin typeface="Muli"/>
              <a:cs typeface="Muli"/>
            </a:endParaRPr>
          </a:p>
          <a:p>
            <a:pPr marL="204470" marR="38100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Keep</a:t>
            </a:r>
            <a:r>
              <a:rPr dirty="0" sz="1750" spc="9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the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workflow</a:t>
            </a:r>
            <a:r>
              <a:rPr dirty="0" sz="1750" spc="9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developer-friendly,</a:t>
            </a:r>
            <a:r>
              <a:rPr dirty="0" sz="1750" spc="9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clear,</a:t>
            </a:r>
            <a:r>
              <a:rPr dirty="0" sz="1750" spc="9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and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easy</a:t>
            </a:r>
            <a:r>
              <a:rPr dirty="0" sz="1750" spc="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to</a:t>
            </a:r>
            <a:r>
              <a:rPr dirty="0" sz="1750" spc="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30272D"/>
                </a:solidFill>
                <a:latin typeface="Muli"/>
                <a:cs typeface="Muli"/>
              </a:rPr>
              <a:t>act</a:t>
            </a:r>
            <a:r>
              <a:rPr dirty="0" sz="1750" spc="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30272D"/>
                </a:solidFill>
                <a:latin typeface="Muli"/>
                <a:cs typeface="Muli"/>
              </a:rPr>
              <a:t>on.</a:t>
            </a:r>
            <a:endParaRPr sz="1750">
              <a:latin typeface="Muli"/>
              <a:cs typeface="Mul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0745" y="6598336"/>
            <a:ext cx="3089287" cy="23241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00745" y="1350187"/>
            <a:ext cx="3089287" cy="233316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89035" y="3982339"/>
            <a:ext cx="3089541" cy="23241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397382" y="9393394"/>
            <a:ext cx="101219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12</a:t>
            </a:r>
            <a:endParaRPr sz="19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3467" y="6836007"/>
            <a:ext cx="110236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Azeret Mono"/>
                <a:cs typeface="Azeret Mono"/>
              </a:rPr>
              <a:t>Go</a:t>
            </a:r>
            <a:r>
              <a:rPr dirty="0" spc="-944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>
                <a:solidFill>
                  <a:srgbClr val="FFFFFF"/>
                </a:solidFill>
                <a:latin typeface="Azeret Mono"/>
                <a:cs typeface="Azeret Mono"/>
              </a:rPr>
              <a:t>To</a:t>
            </a:r>
            <a:r>
              <a:rPr dirty="0" spc="-850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pc="-225">
                <a:solidFill>
                  <a:srgbClr val="FFFFFF"/>
                </a:solidFill>
                <a:latin typeface="Azeret Mono"/>
                <a:cs typeface="Azeret Mono"/>
              </a:rPr>
              <a:t>Market</a:t>
            </a:r>
            <a:r>
              <a:rPr dirty="0" spc="-750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pc="-120">
                <a:solidFill>
                  <a:srgbClr val="FFFFFF"/>
                </a:solidFill>
                <a:latin typeface="Azeret Mono"/>
                <a:cs typeface="Azeret Mono"/>
              </a:rPr>
              <a:t>and</a:t>
            </a:r>
            <a:r>
              <a:rPr dirty="0" spc="-844">
                <a:solidFill>
                  <a:srgbClr val="FFFFFF"/>
                </a:solidFill>
                <a:latin typeface="Azeret Mono"/>
                <a:cs typeface="Azeret Mono"/>
              </a:rPr>
              <a:t> </a:t>
            </a:r>
            <a:r>
              <a:rPr dirty="0" spc="-310">
                <a:solidFill>
                  <a:srgbClr val="FFFFFF"/>
                </a:solidFill>
                <a:latin typeface="Azeret Mono"/>
                <a:cs typeface="Azeret Mono"/>
              </a:rPr>
              <a:t>Roadmap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3467" y="9393394"/>
            <a:ext cx="10115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FFFFFF"/>
                </a:solidFill>
                <a:latin typeface="Muli"/>
                <a:cs typeface="Muli"/>
              </a:rPr>
              <a:t>13</a:t>
            </a:r>
            <a:endParaRPr sz="1900">
              <a:latin typeface="Muli"/>
              <a:cs typeface="Mul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06577" y="513962"/>
            <a:ext cx="34029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Go</a:t>
            </a:r>
            <a:r>
              <a:rPr dirty="0" sz="1900" spc="12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To</a:t>
            </a:r>
            <a:r>
              <a:rPr dirty="0" sz="1900" spc="12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Market</a:t>
            </a:r>
            <a:r>
              <a:rPr dirty="0" sz="1900" spc="12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130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Roadmap</a:t>
            </a:r>
            <a:endParaRPr sz="1900">
              <a:latin typeface="Muli"/>
              <a:cs typeface="Mul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20612" y="5840107"/>
            <a:ext cx="4778997" cy="3124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8553" y="5840107"/>
            <a:ext cx="4778997" cy="3124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9400" y="3560154"/>
            <a:ext cx="4006850" cy="2036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spc="-10" b="1">
                <a:solidFill>
                  <a:srgbClr val="FFFFFF"/>
                </a:solidFill>
                <a:latin typeface="Muli"/>
                <a:cs typeface="Muli"/>
              </a:rPr>
              <a:t>Community-</a:t>
            </a:r>
            <a:r>
              <a:rPr dirty="0" sz="2500" b="1">
                <a:solidFill>
                  <a:srgbClr val="FFFFFF"/>
                </a:solidFill>
                <a:latin typeface="Muli"/>
                <a:cs typeface="Muli"/>
              </a:rPr>
              <a:t>led</a:t>
            </a:r>
            <a:r>
              <a:rPr dirty="0" sz="2500" spc="-10" b="1">
                <a:solidFill>
                  <a:srgbClr val="FFFFFF"/>
                </a:solidFill>
                <a:latin typeface="Muli"/>
                <a:cs typeface="Muli"/>
              </a:rPr>
              <a:t> adoption</a:t>
            </a:r>
            <a:endParaRPr sz="2500">
              <a:latin typeface="Muli"/>
              <a:cs typeface="Muli"/>
            </a:endParaRPr>
          </a:p>
          <a:p>
            <a:pPr marL="204470" marR="776605" indent="-192405">
              <a:lnSpc>
                <a:spcPct val="102200"/>
              </a:lnSpc>
              <a:spcBef>
                <a:spcPts val="1635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Sponsor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hackathons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and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FFFFFF"/>
                </a:solidFill>
                <a:latin typeface="Muli"/>
                <a:cs typeface="Muli"/>
              </a:rPr>
              <a:t>run </a:t>
            </a:r>
            <a:r>
              <a:rPr dirty="0" sz="1750" spc="-25">
                <a:solidFill>
                  <a:srgbClr val="FFFFFF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security</a:t>
            </a:r>
            <a:r>
              <a:rPr dirty="0" sz="1750" spc="9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clinics</a:t>
            </a:r>
            <a:r>
              <a:rPr dirty="0" sz="1750" spc="10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for</a:t>
            </a:r>
            <a:r>
              <a:rPr dirty="0" sz="1750" spc="10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Muli"/>
                <a:cs typeface="Muli"/>
              </a:rPr>
              <a:t>builder 	communities.</a:t>
            </a:r>
            <a:endParaRPr sz="1750">
              <a:latin typeface="Muli"/>
              <a:cs typeface="Muli"/>
            </a:endParaRPr>
          </a:p>
          <a:p>
            <a:pPr marL="204470" marR="5080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Turn</a:t>
            </a:r>
            <a:r>
              <a:rPr dirty="0" sz="1750" spc="6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early</a:t>
            </a:r>
            <a:r>
              <a:rPr dirty="0" sz="1750" spc="6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users</a:t>
            </a:r>
            <a:r>
              <a:rPr dirty="0" sz="1750" spc="6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into</a:t>
            </a:r>
            <a:r>
              <a:rPr dirty="0" sz="1750" spc="7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advocates</a:t>
            </a:r>
            <a:r>
              <a:rPr dirty="0" sz="1750" spc="6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20">
                <a:solidFill>
                  <a:srgbClr val="FFFFFF"/>
                </a:solidFill>
                <a:latin typeface="Muli"/>
                <a:cs typeface="Muli"/>
              </a:rPr>
              <a:t>with </a:t>
            </a:r>
            <a:r>
              <a:rPr dirty="0" sz="1750" spc="-20">
                <a:solidFill>
                  <a:srgbClr val="FFFFFF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templates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and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shareable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Muli"/>
                <a:cs typeface="Muli"/>
              </a:rPr>
              <a:t>reports.</a:t>
            </a:r>
            <a:endParaRPr sz="1750">
              <a:latin typeface="Muli"/>
              <a:cs typeface="Mul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27328" y="3560154"/>
            <a:ext cx="4027804" cy="1763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solidFill>
                  <a:srgbClr val="FFFFFF"/>
                </a:solidFill>
                <a:latin typeface="Muli"/>
                <a:cs typeface="Muli"/>
              </a:rPr>
              <a:t>Ecosystem</a:t>
            </a:r>
            <a:r>
              <a:rPr dirty="0" sz="2500" spc="-114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500" spc="-10" b="1">
                <a:solidFill>
                  <a:srgbClr val="FFFFFF"/>
                </a:solidFill>
                <a:latin typeface="Muli"/>
                <a:cs typeface="Muli"/>
              </a:rPr>
              <a:t>partnerships</a:t>
            </a:r>
            <a:endParaRPr sz="2500">
              <a:latin typeface="Muli"/>
              <a:cs typeface="Muli"/>
            </a:endParaRPr>
          </a:p>
          <a:p>
            <a:pPr marL="204470" marR="154305" indent="-192405">
              <a:lnSpc>
                <a:spcPct val="102200"/>
              </a:lnSpc>
              <a:spcBef>
                <a:spcPts val="1635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Work</a:t>
            </a:r>
            <a:r>
              <a:rPr dirty="0" sz="1750" spc="9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with</a:t>
            </a:r>
            <a:r>
              <a:rPr dirty="0" sz="1750" spc="9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L1/L2</a:t>
            </a:r>
            <a:r>
              <a:rPr dirty="0" sz="1750" spc="9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foundations</a:t>
            </a:r>
            <a:r>
              <a:rPr dirty="0" sz="1750" spc="9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FFFFFF"/>
                </a:solidFill>
                <a:latin typeface="Muli"/>
                <a:cs typeface="Muli"/>
              </a:rPr>
              <a:t>to </a:t>
            </a:r>
            <a:r>
              <a:rPr dirty="0" sz="1750" spc="-25">
                <a:solidFill>
                  <a:srgbClr val="FFFFFF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support</a:t>
            </a:r>
            <a:r>
              <a:rPr dirty="0" sz="1750" spc="1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grantees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and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Muli"/>
                <a:cs typeface="Muli"/>
              </a:rPr>
              <a:t>accelerators.</a:t>
            </a:r>
            <a:endParaRPr sz="1750">
              <a:latin typeface="Muli"/>
              <a:cs typeface="Muli"/>
            </a:endParaRPr>
          </a:p>
          <a:p>
            <a:pPr marL="204470" marR="5080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Co-market</a:t>
            </a:r>
            <a:r>
              <a:rPr dirty="0" sz="1750" spc="12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security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workflows</a:t>
            </a:r>
            <a:r>
              <a:rPr dirty="0" sz="1750" spc="13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20">
                <a:solidFill>
                  <a:srgbClr val="FFFFFF"/>
                </a:solidFill>
                <a:latin typeface="Muli"/>
                <a:cs typeface="Muli"/>
              </a:rPr>
              <a:t>with </a:t>
            </a:r>
            <a:r>
              <a:rPr dirty="0" sz="1750" spc="-20">
                <a:solidFill>
                  <a:srgbClr val="FFFFFF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protocol</a:t>
            </a:r>
            <a:r>
              <a:rPr dirty="0" sz="1750" spc="10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teams</a:t>
            </a:r>
            <a:r>
              <a:rPr dirty="0" sz="1750" spc="10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and</a:t>
            </a:r>
            <a:r>
              <a:rPr dirty="0" sz="1750" spc="10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tooling</a:t>
            </a:r>
            <a:r>
              <a:rPr dirty="0" sz="1750" spc="10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Muli"/>
                <a:cs typeface="Muli"/>
              </a:rPr>
              <a:t>partners.</a:t>
            </a:r>
            <a:endParaRPr sz="1750">
              <a:latin typeface="Muli"/>
              <a:cs typeface="Mul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5259" y="3560154"/>
            <a:ext cx="3766185" cy="2145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53365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solidFill>
                  <a:srgbClr val="FFFFFF"/>
                </a:solidFill>
                <a:latin typeface="Muli"/>
                <a:cs typeface="Muli"/>
              </a:rPr>
              <a:t>Meet</a:t>
            </a:r>
            <a:r>
              <a:rPr dirty="0" sz="2500" spc="-9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500" b="1">
                <a:solidFill>
                  <a:srgbClr val="FFFFFF"/>
                </a:solidFill>
                <a:latin typeface="Muli"/>
                <a:cs typeface="Muli"/>
              </a:rPr>
              <a:t>developers</a:t>
            </a:r>
            <a:r>
              <a:rPr dirty="0" sz="2500" spc="-95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500" spc="-10" b="1">
                <a:solidFill>
                  <a:srgbClr val="FFFFFF"/>
                </a:solidFill>
                <a:latin typeface="Muli"/>
                <a:cs typeface="Muli"/>
              </a:rPr>
              <a:t>where </a:t>
            </a:r>
            <a:r>
              <a:rPr dirty="0" sz="2500" b="1">
                <a:solidFill>
                  <a:srgbClr val="FFFFFF"/>
                </a:solidFill>
                <a:latin typeface="Muli"/>
                <a:cs typeface="Muli"/>
              </a:rPr>
              <a:t>they</a:t>
            </a:r>
            <a:r>
              <a:rPr dirty="0" sz="2500" spc="-80" b="1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2500" spc="-10" b="1">
                <a:solidFill>
                  <a:srgbClr val="FFFFFF"/>
                </a:solidFill>
                <a:latin typeface="Muli"/>
                <a:cs typeface="Muli"/>
              </a:rPr>
              <a:t>build</a:t>
            </a:r>
            <a:endParaRPr sz="2500">
              <a:latin typeface="Muli"/>
              <a:cs typeface="Muli"/>
            </a:endParaRPr>
          </a:p>
          <a:p>
            <a:pPr marL="204470" marR="5080" indent="-192405">
              <a:lnSpc>
                <a:spcPct val="102200"/>
              </a:lnSpc>
              <a:spcBef>
                <a:spcPts val="1639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Ship</a:t>
            </a:r>
            <a:r>
              <a:rPr dirty="0" sz="1750" spc="7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integrations</a:t>
            </a:r>
            <a:r>
              <a:rPr dirty="0" sz="1750" spc="8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for</a:t>
            </a:r>
            <a:r>
              <a:rPr dirty="0" sz="1750" spc="8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VS</a:t>
            </a:r>
            <a:r>
              <a:rPr dirty="0" sz="1750" spc="8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Code</a:t>
            </a:r>
            <a:r>
              <a:rPr dirty="0" sz="1750" spc="8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25">
                <a:solidFill>
                  <a:srgbClr val="FFFFFF"/>
                </a:solidFill>
                <a:latin typeface="Muli"/>
                <a:cs typeface="Muli"/>
              </a:rPr>
              <a:t>and </a:t>
            </a:r>
            <a:r>
              <a:rPr dirty="0" sz="1750" spc="-25">
                <a:solidFill>
                  <a:srgbClr val="FFFFFF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common</a:t>
            </a:r>
            <a:r>
              <a:rPr dirty="0" sz="1750" spc="114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build</a:t>
            </a:r>
            <a:r>
              <a:rPr dirty="0" sz="1750" spc="12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Muli"/>
                <a:cs typeface="Muli"/>
              </a:rPr>
              <a:t>pipelines.</a:t>
            </a:r>
            <a:endParaRPr sz="1750">
              <a:latin typeface="Muli"/>
              <a:cs typeface="Muli"/>
            </a:endParaRPr>
          </a:p>
          <a:p>
            <a:pPr marL="204470" marR="88900" indent="-192405">
              <a:lnSpc>
                <a:spcPct val="102200"/>
              </a:lnSpc>
              <a:spcBef>
                <a:spcPts val="450"/>
              </a:spcBef>
              <a:buFont typeface="Times New Roman"/>
              <a:buChar char="•"/>
              <a:tabLst>
                <a:tab pos="205740" algn="l"/>
              </a:tabLst>
            </a:pP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Make</a:t>
            </a:r>
            <a:r>
              <a:rPr dirty="0" sz="1750" spc="6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scans</a:t>
            </a:r>
            <a:r>
              <a:rPr dirty="0" sz="1750" spc="8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a</a:t>
            </a:r>
            <a:r>
              <a:rPr dirty="0" sz="1750" spc="7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default</a:t>
            </a:r>
            <a:r>
              <a:rPr dirty="0" sz="1750" spc="8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step</a:t>
            </a:r>
            <a:r>
              <a:rPr dirty="0" sz="1750" spc="8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Muli"/>
                <a:cs typeface="Muli"/>
              </a:rPr>
              <a:t>before </a:t>
            </a:r>
            <a:r>
              <a:rPr dirty="0" sz="1750" spc="-10">
                <a:solidFill>
                  <a:srgbClr val="FFFFFF"/>
                </a:solidFill>
                <a:latin typeface="Muli"/>
                <a:cs typeface="Muli"/>
              </a:rPr>
              <a:t>	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testnet</a:t>
            </a:r>
            <a:r>
              <a:rPr dirty="0" sz="1750" spc="10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and</a:t>
            </a:r>
            <a:r>
              <a:rPr dirty="0" sz="1750" spc="100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>
                <a:solidFill>
                  <a:srgbClr val="FFFFFF"/>
                </a:solidFill>
                <a:latin typeface="Muli"/>
                <a:cs typeface="Muli"/>
              </a:rPr>
              <a:t>mainnet</a:t>
            </a:r>
            <a:r>
              <a:rPr dirty="0" sz="1750" spc="105">
                <a:solidFill>
                  <a:srgbClr val="FFFFFF"/>
                </a:solidFill>
                <a:latin typeface="Muli"/>
                <a:cs typeface="Muli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Muli"/>
                <a:cs typeface="Muli"/>
              </a:rPr>
              <a:t>releases.</a:t>
            </a:r>
            <a:endParaRPr sz="1750">
              <a:latin typeface="Muli"/>
              <a:cs typeface="Mul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zeret Mono"/>
                <a:cs typeface="Azeret Mono"/>
              </a:rPr>
              <a:t>Go</a:t>
            </a:r>
            <a:r>
              <a:rPr dirty="0" spc="-900">
                <a:latin typeface="Azeret Mono"/>
                <a:cs typeface="Azeret Mono"/>
              </a:rPr>
              <a:t> </a:t>
            </a:r>
            <a:r>
              <a:rPr dirty="0">
                <a:latin typeface="Azeret Mono"/>
                <a:cs typeface="Azeret Mono"/>
              </a:rPr>
              <a:t>To</a:t>
            </a:r>
            <a:r>
              <a:rPr dirty="0" spc="-900">
                <a:latin typeface="Azeret Mono"/>
                <a:cs typeface="Azeret Mono"/>
              </a:rPr>
              <a:t> </a:t>
            </a:r>
            <a:r>
              <a:rPr dirty="0" spc="-310">
                <a:latin typeface="Azeret Mono"/>
                <a:cs typeface="Azeret Mono"/>
              </a:rPr>
              <a:t>Market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397623" y="9393394"/>
            <a:ext cx="10115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14</a:t>
            </a:r>
            <a:endParaRPr sz="1900">
              <a:latin typeface="Muli"/>
              <a:cs typeface="Mul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16575" y="2919925"/>
            <a:ext cx="1875155" cy="408940"/>
          </a:xfrm>
          <a:custGeom>
            <a:avLst/>
            <a:gdLst/>
            <a:ahLst/>
            <a:cxnLst/>
            <a:rect l="l" t="t" r="r" b="b"/>
            <a:pathLst>
              <a:path w="1875155" h="408939">
                <a:moveTo>
                  <a:pt x="204292" y="0"/>
                </a:moveTo>
                <a:lnTo>
                  <a:pt x="1670824" y="0"/>
                </a:lnTo>
                <a:lnTo>
                  <a:pt x="1674164" y="0"/>
                </a:lnTo>
                <a:lnTo>
                  <a:pt x="1677504" y="76"/>
                </a:lnTo>
                <a:lnTo>
                  <a:pt x="1700796" y="2209"/>
                </a:lnTo>
                <a:lnTo>
                  <a:pt x="1704111" y="2705"/>
                </a:lnTo>
                <a:lnTo>
                  <a:pt x="1707400" y="3276"/>
                </a:lnTo>
                <a:lnTo>
                  <a:pt x="1710677" y="3924"/>
                </a:lnTo>
                <a:lnTo>
                  <a:pt x="1713953" y="4572"/>
                </a:lnTo>
                <a:lnTo>
                  <a:pt x="1730121" y="8801"/>
                </a:lnTo>
                <a:lnTo>
                  <a:pt x="1733321" y="9766"/>
                </a:lnTo>
                <a:lnTo>
                  <a:pt x="1770075" y="25704"/>
                </a:lnTo>
                <a:lnTo>
                  <a:pt x="1775853" y="29070"/>
                </a:lnTo>
                <a:lnTo>
                  <a:pt x="1778723" y="30784"/>
                </a:lnTo>
                <a:lnTo>
                  <a:pt x="1800428" y="46367"/>
                </a:lnTo>
                <a:lnTo>
                  <a:pt x="1803019" y="48488"/>
                </a:lnTo>
                <a:lnTo>
                  <a:pt x="1815274" y="59842"/>
                </a:lnTo>
                <a:lnTo>
                  <a:pt x="1817649" y="62204"/>
                </a:lnTo>
                <a:lnTo>
                  <a:pt x="1840687" y="90792"/>
                </a:lnTo>
                <a:lnTo>
                  <a:pt x="1842541" y="93573"/>
                </a:lnTo>
                <a:lnTo>
                  <a:pt x="1860842" y="129209"/>
                </a:lnTo>
                <a:lnTo>
                  <a:pt x="1863178" y="135470"/>
                </a:lnTo>
                <a:lnTo>
                  <a:pt x="1864309" y="138620"/>
                </a:lnTo>
                <a:lnTo>
                  <a:pt x="1868995" y="154660"/>
                </a:lnTo>
                <a:lnTo>
                  <a:pt x="1869808" y="157899"/>
                </a:lnTo>
                <a:lnTo>
                  <a:pt x="1874875" y="194271"/>
                </a:lnTo>
                <a:lnTo>
                  <a:pt x="1875040" y="197612"/>
                </a:lnTo>
                <a:lnTo>
                  <a:pt x="1875129" y="200952"/>
                </a:lnTo>
                <a:lnTo>
                  <a:pt x="1875129" y="204292"/>
                </a:lnTo>
                <a:lnTo>
                  <a:pt x="1875129" y="204609"/>
                </a:lnTo>
                <a:lnTo>
                  <a:pt x="1875129" y="207962"/>
                </a:lnTo>
                <a:lnTo>
                  <a:pt x="1875040" y="211302"/>
                </a:lnTo>
                <a:lnTo>
                  <a:pt x="1874875" y="214642"/>
                </a:lnTo>
                <a:lnTo>
                  <a:pt x="1874710" y="217982"/>
                </a:lnTo>
                <a:lnTo>
                  <a:pt x="1868995" y="254254"/>
                </a:lnTo>
                <a:lnTo>
                  <a:pt x="1868182" y="257505"/>
                </a:lnTo>
                <a:lnTo>
                  <a:pt x="1863178" y="273443"/>
                </a:lnTo>
                <a:lnTo>
                  <a:pt x="1862048" y="276593"/>
                </a:lnTo>
                <a:lnTo>
                  <a:pt x="1844332" y="312508"/>
                </a:lnTo>
                <a:lnTo>
                  <a:pt x="1819948" y="344284"/>
                </a:lnTo>
                <a:lnTo>
                  <a:pt x="1815274" y="349072"/>
                </a:lnTo>
                <a:lnTo>
                  <a:pt x="1812912" y="351434"/>
                </a:lnTo>
                <a:lnTo>
                  <a:pt x="1800428" y="362534"/>
                </a:lnTo>
                <a:lnTo>
                  <a:pt x="1797850" y="364667"/>
                </a:lnTo>
                <a:lnTo>
                  <a:pt x="1775853" y="379844"/>
                </a:lnTo>
                <a:lnTo>
                  <a:pt x="1772983" y="381571"/>
                </a:lnTo>
                <a:lnTo>
                  <a:pt x="1770075" y="383209"/>
                </a:lnTo>
                <a:lnTo>
                  <a:pt x="1767128" y="384784"/>
                </a:lnTo>
                <a:lnTo>
                  <a:pt x="1764182" y="386372"/>
                </a:lnTo>
                <a:lnTo>
                  <a:pt x="1761185" y="387870"/>
                </a:lnTo>
                <a:lnTo>
                  <a:pt x="1758162" y="389293"/>
                </a:lnTo>
                <a:lnTo>
                  <a:pt x="1755140" y="390728"/>
                </a:lnTo>
                <a:lnTo>
                  <a:pt x="1752092" y="392087"/>
                </a:lnTo>
                <a:lnTo>
                  <a:pt x="1749005" y="393357"/>
                </a:lnTo>
                <a:lnTo>
                  <a:pt x="1745919" y="394639"/>
                </a:lnTo>
                <a:lnTo>
                  <a:pt x="1730121" y="400113"/>
                </a:lnTo>
                <a:lnTo>
                  <a:pt x="1726920" y="401091"/>
                </a:lnTo>
                <a:lnTo>
                  <a:pt x="1690839" y="407923"/>
                </a:lnTo>
                <a:lnTo>
                  <a:pt x="1687512" y="408254"/>
                </a:lnTo>
                <a:lnTo>
                  <a:pt x="1684185" y="408508"/>
                </a:lnTo>
                <a:lnTo>
                  <a:pt x="1680845" y="408673"/>
                </a:lnTo>
                <a:lnTo>
                  <a:pt x="1677504" y="408825"/>
                </a:lnTo>
                <a:lnTo>
                  <a:pt x="1674164" y="408914"/>
                </a:lnTo>
                <a:lnTo>
                  <a:pt x="1670824" y="408914"/>
                </a:lnTo>
                <a:lnTo>
                  <a:pt x="204292" y="408914"/>
                </a:lnTo>
                <a:lnTo>
                  <a:pt x="200952" y="408914"/>
                </a:lnTo>
                <a:lnTo>
                  <a:pt x="197612" y="408825"/>
                </a:lnTo>
                <a:lnTo>
                  <a:pt x="194271" y="408673"/>
                </a:lnTo>
                <a:lnTo>
                  <a:pt x="190931" y="408508"/>
                </a:lnTo>
                <a:lnTo>
                  <a:pt x="187591" y="408254"/>
                </a:lnTo>
                <a:lnTo>
                  <a:pt x="184264" y="407923"/>
                </a:lnTo>
                <a:lnTo>
                  <a:pt x="180936" y="407606"/>
                </a:lnTo>
                <a:lnTo>
                  <a:pt x="144983" y="400113"/>
                </a:lnTo>
                <a:lnTo>
                  <a:pt x="141782" y="399148"/>
                </a:lnTo>
                <a:lnTo>
                  <a:pt x="126111" y="393357"/>
                </a:lnTo>
                <a:lnTo>
                  <a:pt x="123024" y="392087"/>
                </a:lnTo>
                <a:lnTo>
                  <a:pt x="119964" y="390728"/>
                </a:lnTo>
                <a:lnTo>
                  <a:pt x="116941" y="389293"/>
                </a:lnTo>
                <a:lnTo>
                  <a:pt x="113919" y="387870"/>
                </a:lnTo>
                <a:lnTo>
                  <a:pt x="110934" y="386372"/>
                </a:lnTo>
                <a:lnTo>
                  <a:pt x="107988" y="384784"/>
                </a:lnTo>
                <a:lnTo>
                  <a:pt x="105041" y="383209"/>
                </a:lnTo>
                <a:lnTo>
                  <a:pt x="102133" y="381571"/>
                </a:lnTo>
                <a:lnTo>
                  <a:pt x="99263" y="379844"/>
                </a:lnTo>
                <a:lnTo>
                  <a:pt x="96393" y="378129"/>
                </a:lnTo>
                <a:lnTo>
                  <a:pt x="93573" y="376339"/>
                </a:lnTo>
                <a:lnTo>
                  <a:pt x="90792" y="374484"/>
                </a:lnTo>
                <a:lnTo>
                  <a:pt x="88011" y="372630"/>
                </a:lnTo>
                <a:lnTo>
                  <a:pt x="74688" y="362534"/>
                </a:lnTo>
                <a:lnTo>
                  <a:pt x="72097" y="360413"/>
                </a:lnTo>
                <a:lnTo>
                  <a:pt x="59829" y="349072"/>
                </a:lnTo>
                <a:lnTo>
                  <a:pt x="57467" y="346710"/>
                </a:lnTo>
                <a:lnTo>
                  <a:pt x="55168" y="344284"/>
                </a:lnTo>
                <a:lnTo>
                  <a:pt x="52920" y="341807"/>
                </a:lnTo>
                <a:lnTo>
                  <a:pt x="50673" y="339331"/>
                </a:lnTo>
                <a:lnTo>
                  <a:pt x="40195" y="326313"/>
                </a:lnTo>
                <a:lnTo>
                  <a:pt x="38201" y="323634"/>
                </a:lnTo>
                <a:lnTo>
                  <a:pt x="36283" y="320890"/>
                </a:lnTo>
                <a:lnTo>
                  <a:pt x="34429" y="318122"/>
                </a:lnTo>
                <a:lnTo>
                  <a:pt x="32562" y="315341"/>
                </a:lnTo>
                <a:lnTo>
                  <a:pt x="19608" y="291960"/>
                </a:lnTo>
                <a:lnTo>
                  <a:pt x="18173" y="288937"/>
                </a:lnTo>
                <a:lnTo>
                  <a:pt x="16827" y="285889"/>
                </a:lnTo>
                <a:lnTo>
                  <a:pt x="15544" y="282790"/>
                </a:lnTo>
                <a:lnTo>
                  <a:pt x="14262" y="279704"/>
                </a:lnTo>
                <a:lnTo>
                  <a:pt x="6121" y="254254"/>
                </a:lnTo>
                <a:lnTo>
                  <a:pt x="5308" y="251015"/>
                </a:lnTo>
                <a:lnTo>
                  <a:pt x="4572" y="247751"/>
                </a:lnTo>
                <a:lnTo>
                  <a:pt x="3924" y="244475"/>
                </a:lnTo>
                <a:lnTo>
                  <a:pt x="3263" y="241198"/>
                </a:lnTo>
                <a:lnTo>
                  <a:pt x="2692" y="237896"/>
                </a:lnTo>
                <a:lnTo>
                  <a:pt x="2209" y="234594"/>
                </a:lnTo>
                <a:lnTo>
                  <a:pt x="1714" y="231279"/>
                </a:lnTo>
                <a:lnTo>
                  <a:pt x="1308" y="227965"/>
                </a:lnTo>
                <a:lnTo>
                  <a:pt x="977" y="224637"/>
                </a:lnTo>
                <a:lnTo>
                  <a:pt x="647" y="221310"/>
                </a:lnTo>
                <a:lnTo>
                  <a:pt x="406" y="217982"/>
                </a:lnTo>
                <a:lnTo>
                  <a:pt x="241" y="214642"/>
                </a:lnTo>
                <a:lnTo>
                  <a:pt x="76" y="211302"/>
                </a:lnTo>
                <a:lnTo>
                  <a:pt x="0" y="207962"/>
                </a:lnTo>
                <a:lnTo>
                  <a:pt x="0" y="204609"/>
                </a:lnTo>
                <a:lnTo>
                  <a:pt x="0" y="204292"/>
                </a:lnTo>
                <a:lnTo>
                  <a:pt x="0" y="200952"/>
                </a:lnTo>
                <a:lnTo>
                  <a:pt x="76" y="197612"/>
                </a:lnTo>
                <a:lnTo>
                  <a:pt x="241" y="194271"/>
                </a:lnTo>
                <a:lnTo>
                  <a:pt x="406" y="190931"/>
                </a:lnTo>
                <a:lnTo>
                  <a:pt x="647" y="187604"/>
                </a:lnTo>
                <a:lnTo>
                  <a:pt x="977" y="184277"/>
                </a:lnTo>
                <a:lnTo>
                  <a:pt x="1308" y="180949"/>
                </a:lnTo>
                <a:lnTo>
                  <a:pt x="1714" y="177634"/>
                </a:lnTo>
                <a:lnTo>
                  <a:pt x="2209" y="174320"/>
                </a:lnTo>
                <a:lnTo>
                  <a:pt x="2692" y="171018"/>
                </a:lnTo>
                <a:lnTo>
                  <a:pt x="3263" y="167716"/>
                </a:lnTo>
                <a:lnTo>
                  <a:pt x="3924" y="164439"/>
                </a:lnTo>
                <a:lnTo>
                  <a:pt x="4572" y="161163"/>
                </a:lnTo>
                <a:lnTo>
                  <a:pt x="5308" y="157899"/>
                </a:lnTo>
                <a:lnTo>
                  <a:pt x="6121" y="154660"/>
                </a:lnTo>
                <a:lnTo>
                  <a:pt x="6934" y="151409"/>
                </a:lnTo>
                <a:lnTo>
                  <a:pt x="19608" y="116954"/>
                </a:lnTo>
                <a:lnTo>
                  <a:pt x="21043" y="113931"/>
                </a:lnTo>
                <a:lnTo>
                  <a:pt x="34429" y="90792"/>
                </a:lnTo>
                <a:lnTo>
                  <a:pt x="36283" y="88011"/>
                </a:lnTo>
                <a:lnTo>
                  <a:pt x="38201" y="85280"/>
                </a:lnTo>
                <a:lnTo>
                  <a:pt x="40195" y="82600"/>
                </a:lnTo>
                <a:lnTo>
                  <a:pt x="42189" y="79908"/>
                </a:lnTo>
                <a:lnTo>
                  <a:pt x="59829" y="59842"/>
                </a:lnTo>
                <a:lnTo>
                  <a:pt x="62191" y="57467"/>
                </a:lnTo>
                <a:lnTo>
                  <a:pt x="74688" y="46367"/>
                </a:lnTo>
                <a:lnTo>
                  <a:pt x="77266" y="44246"/>
                </a:lnTo>
                <a:lnTo>
                  <a:pt x="90792" y="34429"/>
                </a:lnTo>
                <a:lnTo>
                  <a:pt x="93573" y="32575"/>
                </a:lnTo>
                <a:lnTo>
                  <a:pt x="96393" y="30784"/>
                </a:lnTo>
                <a:lnTo>
                  <a:pt x="99263" y="29070"/>
                </a:lnTo>
                <a:lnTo>
                  <a:pt x="102133" y="27343"/>
                </a:lnTo>
                <a:lnTo>
                  <a:pt x="138620" y="10820"/>
                </a:lnTo>
                <a:lnTo>
                  <a:pt x="144983" y="8801"/>
                </a:lnTo>
                <a:lnTo>
                  <a:pt x="148183" y="7823"/>
                </a:lnTo>
                <a:lnTo>
                  <a:pt x="164439" y="3924"/>
                </a:lnTo>
                <a:lnTo>
                  <a:pt x="167716" y="3276"/>
                </a:lnTo>
                <a:lnTo>
                  <a:pt x="171005" y="2705"/>
                </a:lnTo>
                <a:lnTo>
                  <a:pt x="174320" y="2209"/>
                </a:lnTo>
                <a:lnTo>
                  <a:pt x="177622" y="1714"/>
                </a:lnTo>
                <a:lnTo>
                  <a:pt x="194271" y="241"/>
                </a:lnTo>
                <a:lnTo>
                  <a:pt x="197612" y="76"/>
                </a:lnTo>
                <a:lnTo>
                  <a:pt x="200952" y="0"/>
                </a:lnTo>
                <a:lnTo>
                  <a:pt x="204292" y="0"/>
                </a:lnTo>
                <a:close/>
              </a:path>
            </a:pathLst>
          </a:custGeom>
          <a:ln w="1570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64504" y="2919925"/>
            <a:ext cx="1875155" cy="408940"/>
          </a:xfrm>
          <a:custGeom>
            <a:avLst/>
            <a:gdLst/>
            <a:ahLst/>
            <a:cxnLst/>
            <a:rect l="l" t="t" r="r" b="b"/>
            <a:pathLst>
              <a:path w="1875154" h="408939">
                <a:moveTo>
                  <a:pt x="204292" y="0"/>
                </a:moveTo>
                <a:lnTo>
                  <a:pt x="1670824" y="0"/>
                </a:lnTo>
                <a:lnTo>
                  <a:pt x="1674164" y="0"/>
                </a:lnTo>
                <a:lnTo>
                  <a:pt x="1677504" y="76"/>
                </a:lnTo>
                <a:lnTo>
                  <a:pt x="1700796" y="2209"/>
                </a:lnTo>
                <a:lnTo>
                  <a:pt x="1704111" y="2705"/>
                </a:lnTo>
                <a:lnTo>
                  <a:pt x="1707400" y="3276"/>
                </a:lnTo>
                <a:lnTo>
                  <a:pt x="1710677" y="3924"/>
                </a:lnTo>
                <a:lnTo>
                  <a:pt x="1713953" y="4572"/>
                </a:lnTo>
                <a:lnTo>
                  <a:pt x="1730121" y="8801"/>
                </a:lnTo>
                <a:lnTo>
                  <a:pt x="1733321" y="9766"/>
                </a:lnTo>
                <a:lnTo>
                  <a:pt x="1770075" y="25704"/>
                </a:lnTo>
                <a:lnTo>
                  <a:pt x="1775853" y="29070"/>
                </a:lnTo>
                <a:lnTo>
                  <a:pt x="1778723" y="30784"/>
                </a:lnTo>
                <a:lnTo>
                  <a:pt x="1800428" y="46367"/>
                </a:lnTo>
                <a:lnTo>
                  <a:pt x="1803019" y="48488"/>
                </a:lnTo>
                <a:lnTo>
                  <a:pt x="1815274" y="59842"/>
                </a:lnTo>
                <a:lnTo>
                  <a:pt x="1817649" y="62204"/>
                </a:lnTo>
                <a:lnTo>
                  <a:pt x="1840687" y="90792"/>
                </a:lnTo>
                <a:lnTo>
                  <a:pt x="1842541" y="93573"/>
                </a:lnTo>
                <a:lnTo>
                  <a:pt x="1860842" y="129209"/>
                </a:lnTo>
                <a:lnTo>
                  <a:pt x="1863178" y="135470"/>
                </a:lnTo>
                <a:lnTo>
                  <a:pt x="1864309" y="138620"/>
                </a:lnTo>
                <a:lnTo>
                  <a:pt x="1868995" y="154660"/>
                </a:lnTo>
                <a:lnTo>
                  <a:pt x="1869808" y="157899"/>
                </a:lnTo>
                <a:lnTo>
                  <a:pt x="1874875" y="194271"/>
                </a:lnTo>
                <a:lnTo>
                  <a:pt x="1875040" y="197612"/>
                </a:lnTo>
                <a:lnTo>
                  <a:pt x="1875129" y="200952"/>
                </a:lnTo>
                <a:lnTo>
                  <a:pt x="1875129" y="204292"/>
                </a:lnTo>
                <a:lnTo>
                  <a:pt x="1875129" y="204609"/>
                </a:lnTo>
                <a:lnTo>
                  <a:pt x="1875129" y="207962"/>
                </a:lnTo>
                <a:lnTo>
                  <a:pt x="1875040" y="211302"/>
                </a:lnTo>
                <a:lnTo>
                  <a:pt x="1874875" y="214642"/>
                </a:lnTo>
                <a:lnTo>
                  <a:pt x="1874710" y="217982"/>
                </a:lnTo>
                <a:lnTo>
                  <a:pt x="1868995" y="254254"/>
                </a:lnTo>
                <a:lnTo>
                  <a:pt x="1868182" y="257505"/>
                </a:lnTo>
                <a:lnTo>
                  <a:pt x="1863178" y="273443"/>
                </a:lnTo>
                <a:lnTo>
                  <a:pt x="1862048" y="276593"/>
                </a:lnTo>
                <a:lnTo>
                  <a:pt x="1844332" y="312508"/>
                </a:lnTo>
                <a:lnTo>
                  <a:pt x="1819948" y="344284"/>
                </a:lnTo>
                <a:lnTo>
                  <a:pt x="1815274" y="349072"/>
                </a:lnTo>
                <a:lnTo>
                  <a:pt x="1812912" y="351434"/>
                </a:lnTo>
                <a:lnTo>
                  <a:pt x="1800428" y="362534"/>
                </a:lnTo>
                <a:lnTo>
                  <a:pt x="1797850" y="364667"/>
                </a:lnTo>
                <a:lnTo>
                  <a:pt x="1775853" y="379844"/>
                </a:lnTo>
                <a:lnTo>
                  <a:pt x="1772983" y="381571"/>
                </a:lnTo>
                <a:lnTo>
                  <a:pt x="1770075" y="383209"/>
                </a:lnTo>
                <a:lnTo>
                  <a:pt x="1767128" y="384784"/>
                </a:lnTo>
                <a:lnTo>
                  <a:pt x="1764182" y="386372"/>
                </a:lnTo>
                <a:lnTo>
                  <a:pt x="1761185" y="387870"/>
                </a:lnTo>
                <a:lnTo>
                  <a:pt x="1758162" y="389293"/>
                </a:lnTo>
                <a:lnTo>
                  <a:pt x="1755140" y="390728"/>
                </a:lnTo>
                <a:lnTo>
                  <a:pt x="1752092" y="392087"/>
                </a:lnTo>
                <a:lnTo>
                  <a:pt x="1749005" y="393357"/>
                </a:lnTo>
                <a:lnTo>
                  <a:pt x="1745919" y="394639"/>
                </a:lnTo>
                <a:lnTo>
                  <a:pt x="1730121" y="400113"/>
                </a:lnTo>
                <a:lnTo>
                  <a:pt x="1726920" y="401091"/>
                </a:lnTo>
                <a:lnTo>
                  <a:pt x="1690839" y="407923"/>
                </a:lnTo>
                <a:lnTo>
                  <a:pt x="1687512" y="408254"/>
                </a:lnTo>
                <a:lnTo>
                  <a:pt x="1684185" y="408508"/>
                </a:lnTo>
                <a:lnTo>
                  <a:pt x="1680845" y="408673"/>
                </a:lnTo>
                <a:lnTo>
                  <a:pt x="1677504" y="408825"/>
                </a:lnTo>
                <a:lnTo>
                  <a:pt x="1674164" y="408914"/>
                </a:lnTo>
                <a:lnTo>
                  <a:pt x="1670824" y="408914"/>
                </a:lnTo>
                <a:lnTo>
                  <a:pt x="204292" y="408914"/>
                </a:lnTo>
                <a:lnTo>
                  <a:pt x="200952" y="408914"/>
                </a:lnTo>
                <a:lnTo>
                  <a:pt x="197612" y="408825"/>
                </a:lnTo>
                <a:lnTo>
                  <a:pt x="194271" y="408673"/>
                </a:lnTo>
                <a:lnTo>
                  <a:pt x="190931" y="408508"/>
                </a:lnTo>
                <a:lnTo>
                  <a:pt x="187591" y="408254"/>
                </a:lnTo>
                <a:lnTo>
                  <a:pt x="184264" y="407923"/>
                </a:lnTo>
                <a:lnTo>
                  <a:pt x="180936" y="407606"/>
                </a:lnTo>
                <a:lnTo>
                  <a:pt x="144983" y="400113"/>
                </a:lnTo>
                <a:lnTo>
                  <a:pt x="141782" y="399148"/>
                </a:lnTo>
                <a:lnTo>
                  <a:pt x="126111" y="393357"/>
                </a:lnTo>
                <a:lnTo>
                  <a:pt x="123024" y="392087"/>
                </a:lnTo>
                <a:lnTo>
                  <a:pt x="119964" y="390728"/>
                </a:lnTo>
                <a:lnTo>
                  <a:pt x="116941" y="389293"/>
                </a:lnTo>
                <a:lnTo>
                  <a:pt x="113919" y="387870"/>
                </a:lnTo>
                <a:lnTo>
                  <a:pt x="110934" y="386372"/>
                </a:lnTo>
                <a:lnTo>
                  <a:pt x="107988" y="384784"/>
                </a:lnTo>
                <a:lnTo>
                  <a:pt x="105041" y="383209"/>
                </a:lnTo>
                <a:lnTo>
                  <a:pt x="102133" y="381571"/>
                </a:lnTo>
                <a:lnTo>
                  <a:pt x="99263" y="379844"/>
                </a:lnTo>
                <a:lnTo>
                  <a:pt x="96393" y="378129"/>
                </a:lnTo>
                <a:lnTo>
                  <a:pt x="93573" y="376339"/>
                </a:lnTo>
                <a:lnTo>
                  <a:pt x="90792" y="374484"/>
                </a:lnTo>
                <a:lnTo>
                  <a:pt x="88011" y="372630"/>
                </a:lnTo>
                <a:lnTo>
                  <a:pt x="74688" y="362534"/>
                </a:lnTo>
                <a:lnTo>
                  <a:pt x="72097" y="360413"/>
                </a:lnTo>
                <a:lnTo>
                  <a:pt x="59829" y="349072"/>
                </a:lnTo>
                <a:lnTo>
                  <a:pt x="57467" y="346710"/>
                </a:lnTo>
                <a:lnTo>
                  <a:pt x="55168" y="344284"/>
                </a:lnTo>
                <a:lnTo>
                  <a:pt x="52920" y="341807"/>
                </a:lnTo>
                <a:lnTo>
                  <a:pt x="50673" y="339331"/>
                </a:lnTo>
                <a:lnTo>
                  <a:pt x="40195" y="326313"/>
                </a:lnTo>
                <a:lnTo>
                  <a:pt x="38201" y="323634"/>
                </a:lnTo>
                <a:lnTo>
                  <a:pt x="36283" y="320890"/>
                </a:lnTo>
                <a:lnTo>
                  <a:pt x="34429" y="318122"/>
                </a:lnTo>
                <a:lnTo>
                  <a:pt x="32562" y="315341"/>
                </a:lnTo>
                <a:lnTo>
                  <a:pt x="19608" y="291960"/>
                </a:lnTo>
                <a:lnTo>
                  <a:pt x="18173" y="288937"/>
                </a:lnTo>
                <a:lnTo>
                  <a:pt x="16827" y="285889"/>
                </a:lnTo>
                <a:lnTo>
                  <a:pt x="15544" y="282790"/>
                </a:lnTo>
                <a:lnTo>
                  <a:pt x="14262" y="279704"/>
                </a:lnTo>
                <a:lnTo>
                  <a:pt x="6121" y="254254"/>
                </a:lnTo>
                <a:lnTo>
                  <a:pt x="5308" y="251015"/>
                </a:lnTo>
                <a:lnTo>
                  <a:pt x="4572" y="247751"/>
                </a:lnTo>
                <a:lnTo>
                  <a:pt x="3924" y="244475"/>
                </a:lnTo>
                <a:lnTo>
                  <a:pt x="3263" y="241198"/>
                </a:lnTo>
                <a:lnTo>
                  <a:pt x="2692" y="237896"/>
                </a:lnTo>
                <a:lnTo>
                  <a:pt x="2209" y="234594"/>
                </a:lnTo>
                <a:lnTo>
                  <a:pt x="1714" y="231279"/>
                </a:lnTo>
                <a:lnTo>
                  <a:pt x="1308" y="227965"/>
                </a:lnTo>
                <a:lnTo>
                  <a:pt x="977" y="224637"/>
                </a:lnTo>
                <a:lnTo>
                  <a:pt x="647" y="221310"/>
                </a:lnTo>
                <a:lnTo>
                  <a:pt x="406" y="217982"/>
                </a:lnTo>
                <a:lnTo>
                  <a:pt x="241" y="214642"/>
                </a:lnTo>
                <a:lnTo>
                  <a:pt x="76" y="211302"/>
                </a:lnTo>
                <a:lnTo>
                  <a:pt x="0" y="207962"/>
                </a:lnTo>
                <a:lnTo>
                  <a:pt x="0" y="204609"/>
                </a:lnTo>
                <a:lnTo>
                  <a:pt x="0" y="204292"/>
                </a:lnTo>
                <a:lnTo>
                  <a:pt x="0" y="200952"/>
                </a:lnTo>
                <a:lnTo>
                  <a:pt x="76" y="197612"/>
                </a:lnTo>
                <a:lnTo>
                  <a:pt x="241" y="194271"/>
                </a:lnTo>
                <a:lnTo>
                  <a:pt x="406" y="190931"/>
                </a:lnTo>
                <a:lnTo>
                  <a:pt x="647" y="187604"/>
                </a:lnTo>
                <a:lnTo>
                  <a:pt x="977" y="184277"/>
                </a:lnTo>
                <a:lnTo>
                  <a:pt x="1308" y="180949"/>
                </a:lnTo>
                <a:lnTo>
                  <a:pt x="1714" y="177634"/>
                </a:lnTo>
                <a:lnTo>
                  <a:pt x="2209" y="174320"/>
                </a:lnTo>
                <a:lnTo>
                  <a:pt x="2692" y="171018"/>
                </a:lnTo>
                <a:lnTo>
                  <a:pt x="3263" y="167716"/>
                </a:lnTo>
                <a:lnTo>
                  <a:pt x="3924" y="164439"/>
                </a:lnTo>
                <a:lnTo>
                  <a:pt x="4572" y="161163"/>
                </a:lnTo>
                <a:lnTo>
                  <a:pt x="5308" y="157899"/>
                </a:lnTo>
                <a:lnTo>
                  <a:pt x="6121" y="154660"/>
                </a:lnTo>
                <a:lnTo>
                  <a:pt x="6934" y="151409"/>
                </a:lnTo>
                <a:lnTo>
                  <a:pt x="19608" y="116954"/>
                </a:lnTo>
                <a:lnTo>
                  <a:pt x="21043" y="113931"/>
                </a:lnTo>
                <a:lnTo>
                  <a:pt x="34429" y="90792"/>
                </a:lnTo>
                <a:lnTo>
                  <a:pt x="36283" y="88011"/>
                </a:lnTo>
                <a:lnTo>
                  <a:pt x="38201" y="85280"/>
                </a:lnTo>
                <a:lnTo>
                  <a:pt x="40195" y="82600"/>
                </a:lnTo>
                <a:lnTo>
                  <a:pt x="42189" y="79908"/>
                </a:lnTo>
                <a:lnTo>
                  <a:pt x="59829" y="59842"/>
                </a:lnTo>
                <a:lnTo>
                  <a:pt x="62191" y="57467"/>
                </a:lnTo>
                <a:lnTo>
                  <a:pt x="74688" y="46367"/>
                </a:lnTo>
                <a:lnTo>
                  <a:pt x="77266" y="44246"/>
                </a:lnTo>
                <a:lnTo>
                  <a:pt x="90792" y="34429"/>
                </a:lnTo>
                <a:lnTo>
                  <a:pt x="93573" y="32575"/>
                </a:lnTo>
                <a:lnTo>
                  <a:pt x="96393" y="30784"/>
                </a:lnTo>
                <a:lnTo>
                  <a:pt x="99263" y="29070"/>
                </a:lnTo>
                <a:lnTo>
                  <a:pt x="102133" y="27343"/>
                </a:lnTo>
                <a:lnTo>
                  <a:pt x="138620" y="10820"/>
                </a:lnTo>
                <a:lnTo>
                  <a:pt x="144983" y="8801"/>
                </a:lnTo>
                <a:lnTo>
                  <a:pt x="148183" y="7823"/>
                </a:lnTo>
                <a:lnTo>
                  <a:pt x="164439" y="3924"/>
                </a:lnTo>
                <a:lnTo>
                  <a:pt x="167716" y="3276"/>
                </a:lnTo>
                <a:lnTo>
                  <a:pt x="171005" y="2705"/>
                </a:lnTo>
                <a:lnTo>
                  <a:pt x="174320" y="2209"/>
                </a:lnTo>
                <a:lnTo>
                  <a:pt x="177622" y="1714"/>
                </a:lnTo>
                <a:lnTo>
                  <a:pt x="194271" y="241"/>
                </a:lnTo>
                <a:lnTo>
                  <a:pt x="197612" y="76"/>
                </a:lnTo>
                <a:lnTo>
                  <a:pt x="200952" y="0"/>
                </a:lnTo>
                <a:lnTo>
                  <a:pt x="204292" y="0"/>
                </a:lnTo>
                <a:close/>
              </a:path>
            </a:pathLst>
          </a:custGeom>
          <a:ln w="1570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2434" y="2919925"/>
            <a:ext cx="1875155" cy="408940"/>
          </a:xfrm>
          <a:custGeom>
            <a:avLst/>
            <a:gdLst/>
            <a:ahLst/>
            <a:cxnLst/>
            <a:rect l="l" t="t" r="r" b="b"/>
            <a:pathLst>
              <a:path w="1875155" h="408939">
                <a:moveTo>
                  <a:pt x="204292" y="0"/>
                </a:moveTo>
                <a:lnTo>
                  <a:pt x="1670824" y="0"/>
                </a:lnTo>
                <a:lnTo>
                  <a:pt x="1674164" y="0"/>
                </a:lnTo>
                <a:lnTo>
                  <a:pt x="1677504" y="76"/>
                </a:lnTo>
                <a:lnTo>
                  <a:pt x="1700796" y="2209"/>
                </a:lnTo>
                <a:lnTo>
                  <a:pt x="1704111" y="2705"/>
                </a:lnTo>
                <a:lnTo>
                  <a:pt x="1730121" y="8801"/>
                </a:lnTo>
                <a:lnTo>
                  <a:pt x="1733321" y="9766"/>
                </a:lnTo>
                <a:lnTo>
                  <a:pt x="1770075" y="25704"/>
                </a:lnTo>
                <a:lnTo>
                  <a:pt x="1775853" y="29070"/>
                </a:lnTo>
                <a:lnTo>
                  <a:pt x="1778723" y="30784"/>
                </a:lnTo>
                <a:lnTo>
                  <a:pt x="1800428" y="46367"/>
                </a:lnTo>
                <a:lnTo>
                  <a:pt x="1803019" y="48488"/>
                </a:lnTo>
                <a:lnTo>
                  <a:pt x="1815274" y="59842"/>
                </a:lnTo>
                <a:lnTo>
                  <a:pt x="1817649" y="62204"/>
                </a:lnTo>
                <a:lnTo>
                  <a:pt x="1840687" y="90792"/>
                </a:lnTo>
                <a:lnTo>
                  <a:pt x="1842541" y="93573"/>
                </a:lnTo>
                <a:lnTo>
                  <a:pt x="1860842" y="129209"/>
                </a:lnTo>
                <a:lnTo>
                  <a:pt x="1863178" y="135470"/>
                </a:lnTo>
                <a:lnTo>
                  <a:pt x="1864309" y="138620"/>
                </a:lnTo>
                <a:lnTo>
                  <a:pt x="1868995" y="154660"/>
                </a:lnTo>
                <a:lnTo>
                  <a:pt x="1869808" y="157899"/>
                </a:lnTo>
                <a:lnTo>
                  <a:pt x="1874139" y="184277"/>
                </a:lnTo>
                <a:lnTo>
                  <a:pt x="1874469" y="187604"/>
                </a:lnTo>
                <a:lnTo>
                  <a:pt x="1874710" y="190931"/>
                </a:lnTo>
                <a:lnTo>
                  <a:pt x="1874875" y="194271"/>
                </a:lnTo>
                <a:lnTo>
                  <a:pt x="1875040" y="197612"/>
                </a:lnTo>
                <a:lnTo>
                  <a:pt x="1875129" y="200952"/>
                </a:lnTo>
                <a:lnTo>
                  <a:pt x="1875129" y="204292"/>
                </a:lnTo>
                <a:lnTo>
                  <a:pt x="1875129" y="204609"/>
                </a:lnTo>
                <a:lnTo>
                  <a:pt x="1875129" y="207962"/>
                </a:lnTo>
                <a:lnTo>
                  <a:pt x="1875040" y="211302"/>
                </a:lnTo>
                <a:lnTo>
                  <a:pt x="1874875" y="214642"/>
                </a:lnTo>
                <a:lnTo>
                  <a:pt x="1874710" y="217982"/>
                </a:lnTo>
                <a:lnTo>
                  <a:pt x="1874469" y="221310"/>
                </a:lnTo>
                <a:lnTo>
                  <a:pt x="1874139" y="224637"/>
                </a:lnTo>
                <a:lnTo>
                  <a:pt x="1873808" y="227965"/>
                </a:lnTo>
                <a:lnTo>
                  <a:pt x="1868995" y="254254"/>
                </a:lnTo>
                <a:lnTo>
                  <a:pt x="1868182" y="257505"/>
                </a:lnTo>
                <a:lnTo>
                  <a:pt x="1863178" y="273443"/>
                </a:lnTo>
                <a:lnTo>
                  <a:pt x="1862048" y="276593"/>
                </a:lnTo>
                <a:lnTo>
                  <a:pt x="1844332" y="312508"/>
                </a:lnTo>
                <a:lnTo>
                  <a:pt x="1819948" y="344284"/>
                </a:lnTo>
                <a:lnTo>
                  <a:pt x="1815274" y="349072"/>
                </a:lnTo>
                <a:lnTo>
                  <a:pt x="1812912" y="351434"/>
                </a:lnTo>
                <a:lnTo>
                  <a:pt x="1800428" y="362534"/>
                </a:lnTo>
                <a:lnTo>
                  <a:pt x="1797850" y="364667"/>
                </a:lnTo>
                <a:lnTo>
                  <a:pt x="1784324" y="374484"/>
                </a:lnTo>
                <a:lnTo>
                  <a:pt x="1781543" y="376339"/>
                </a:lnTo>
                <a:lnTo>
                  <a:pt x="1778723" y="378129"/>
                </a:lnTo>
                <a:lnTo>
                  <a:pt x="1775853" y="379844"/>
                </a:lnTo>
                <a:lnTo>
                  <a:pt x="1772983" y="381571"/>
                </a:lnTo>
                <a:lnTo>
                  <a:pt x="1770075" y="383209"/>
                </a:lnTo>
                <a:lnTo>
                  <a:pt x="1767128" y="384784"/>
                </a:lnTo>
                <a:lnTo>
                  <a:pt x="1764182" y="386372"/>
                </a:lnTo>
                <a:lnTo>
                  <a:pt x="1761185" y="387870"/>
                </a:lnTo>
                <a:lnTo>
                  <a:pt x="1758162" y="389293"/>
                </a:lnTo>
                <a:lnTo>
                  <a:pt x="1755139" y="390728"/>
                </a:lnTo>
                <a:lnTo>
                  <a:pt x="1752091" y="392087"/>
                </a:lnTo>
                <a:lnTo>
                  <a:pt x="1749005" y="393357"/>
                </a:lnTo>
                <a:lnTo>
                  <a:pt x="1745919" y="394639"/>
                </a:lnTo>
                <a:lnTo>
                  <a:pt x="1730121" y="400113"/>
                </a:lnTo>
                <a:lnTo>
                  <a:pt x="1726920" y="401091"/>
                </a:lnTo>
                <a:lnTo>
                  <a:pt x="1690839" y="407923"/>
                </a:lnTo>
                <a:lnTo>
                  <a:pt x="1687512" y="408254"/>
                </a:lnTo>
                <a:lnTo>
                  <a:pt x="1684185" y="408508"/>
                </a:lnTo>
                <a:lnTo>
                  <a:pt x="1680845" y="408673"/>
                </a:lnTo>
                <a:lnTo>
                  <a:pt x="1677504" y="408825"/>
                </a:lnTo>
                <a:lnTo>
                  <a:pt x="1674164" y="408914"/>
                </a:lnTo>
                <a:lnTo>
                  <a:pt x="1670824" y="408914"/>
                </a:lnTo>
                <a:lnTo>
                  <a:pt x="204292" y="408914"/>
                </a:lnTo>
                <a:lnTo>
                  <a:pt x="200952" y="408914"/>
                </a:lnTo>
                <a:lnTo>
                  <a:pt x="197611" y="408825"/>
                </a:lnTo>
                <a:lnTo>
                  <a:pt x="194271" y="408673"/>
                </a:lnTo>
                <a:lnTo>
                  <a:pt x="190931" y="408508"/>
                </a:lnTo>
                <a:lnTo>
                  <a:pt x="187591" y="408254"/>
                </a:lnTo>
                <a:lnTo>
                  <a:pt x="184264" y="407923"/>
                </a:lnTo>
                <a:lnTo>
                  <a:pt x="180936" y="407606"/>
                </a:lnTo>
                <a:lnTo>
                  <a:pt x="144983" y="400113"/>
                </a:lnTo>
                <a:lnTo>
                  <a:pt x="141782" y="399148"/>
                </a:lnTo>
                <a:lnTo>
                  <a:pt x="126111" y="393357"/>
                </a:lnTo>
                <a:lnTo>
                  <a:pt x="123024" y="392087"/>
                </a:lnTo>
                <a:lnTo>
                  <a:pt x="119964" y="390728"/>
                </a:lnTo>
                <a:lnTo>
                  <a:pt x="116941" y="389293"/>
                </a:lnTo>
                <a:lnTo>
                  <a:pt x="113918" y="387870"/>
                </a:lnTo>
                <a:lnTo>
                  <a:pt x="110934" y="386372"/>
                </a:lnTo>
                <a:lnTo>
                  <a:pt x="107988" y="384784"/>
                </a:lnTo>
                <a:lnTo>
                  <a:pt x="105041" y="383209"/>
                </a:lnTo>
                <a:lnTo>
                  <a:pt x="102133" y="381571"/>
                </a:lnTo>
                <a:lnTo>
                  <a:pt x="99263" y="379844"/>
                </a:lnTo>
                <a:lnTo>
                  <a:pt x="96392" y="378129"/>
                </a:lnTo>
                <a:lnTo>
                  <a:pt x="93573" y="376339"/>
                </a:lnTo>
                <a:lnTo>
                  <a:pt x="90792" y="374484"/>
                </a:lnTo>
                <a:lnTo>
                  <a:pt x="88010" y="372630"/>
                </a:lnTo>
                <a:lnTo>
                  <a:pt x="74688" y="362534"/>
                </a:lnTo>
                <a:lnTo>
                  <a:pt x="72097" y="360413"/>
                </a:lnTo>
                <a:lnTo>
                  <a:pt x="59829" y="349072"/>
                </a:lnTo>
                <a:lnTo>
                  <a:pt x="57467" y="346710"/>
                </a:lnTo>
                <a:lnTo>
                  <a:pt x="55168" y="344284"/>
                </a:lnTo>
                <a:lnTo>
                  <a:pt x="52920" y="341807"/>
                </a:lnTo>
                <a:lnTo>
                  <a:pt x="50672" y="339331"/>
                </a:lnTo>
                <a:lnTo>
                  <a:pt x="40195" y="326313"/>
                </a:lnTo>
                <a:lnTo>
                  <a:pt x="38201" y="323634"/>
                </a:lnTo>
                <a:lnTo>
                  <a:pt x="36283" y="320890"/>
                </a:lnTo>
                <a:lnTo>
                  <a:pt x="34429" y="318122"/>
                </a:lnTo>
                <a:lnTo>
                  <a:pt x="32562" y="315341"/>
                </a:lnTo>
                <a:lnTo>
                  <a:pt x="19608" y="291960"/>
                </a:lnTo>
                <a:lnTo>
                  <a:pt x="18173" y="288937"/>
                </a:lnTo>
                <a:lnTo>
                  <a:pt x="16827" y="285889"/>
                </a:lnTo>
                <a:lnTo>
                  <a:pt x="15544" y="282790"/>
                </a:lnTo>
                <a:lnTo>
                  <a:pt x="14262" y="279704"/>
                </a:lnTo>
                <a:lnTo>
                  <a:pt x="6121" y="254254"/>
                </a:lnTo>
                <a:lnTo>
                  <a:pt x="5308" y="251015"/>
                </a:lnTo>
                <a:lnTo>
                  <a:pt x="4571" y="247751"/>
                </a:lnTo>
                <a:lnTo>
                  <a:pt x="3924" y="244475"/>
                </a:lnTo>
                <a:lnTo>
                  <a:pt x="3263" y="241198"/>
                </a:lnTo>
                <a:lnTo>
                  <a:pt x="2692" y="237896"/>
                </a:lnTo>
                <a:lnTo>
                  <a:pt x="2209" y="234594"/>
                </a:lnTo>
                <a:lnTo>
                  <a:pt x="1714" y="231279"/>
                </a:lnTo>
                <a:lnTo>
                  <a:pt x="1308" y="227965"/>
                </a:lnTo>
                <a:lnTo>
                  <a:pt x="977" y="224637"/>
                </a:lnTo>
                <a:lnTo>
                  <a:pt x="647" y="221310"/>
                </a:lnTo>
                <a:lnTo>
                  <a:pt x="406" y="217982"/>
                </a:lnTo>
                <a:lnTo>
                  <a:pt x="241" y="214642"/>
                </a:lnTo>
                <a:lnTo>
                  <a:pt x="76" y="211302"/>
                </a:lnTo>
                <a:lnTo>
                  <a:pt x="0" y="207962"/>
                </a:lnTo>
                <a:lnTo>
                  <a:pt x="0" y="204609"/>
                </a:lnTo>
                <a:lnTo>
                  <a:pt x="0" y="204292"/>
                </a:lnTo>
                <a:lnTo>
                  <a:pt x="0" y="200952"/>
                </a:lnTo>
                <a:lnTo>
                  <a:pt x="76" y="197612"/>
                </a:lnTo>
                <a:lnTo>
                  <a:pt x="241" y="194271"/>
                </a:lnTo>
                <a:lnTo>
                  <a:pt x="406" y="190931"/>
                </a:lnTo>
                <a:lnTo>
                  <a:pt x="647" y="187604"/>
                </a:lnTo>
                <a:lnTo>
                  <a:pt x="977" y="184277"/>
                </a:lnTo>
                <a:lnTo>
                  <a:pt x="1308" y="180949"/>
                </a:lnTo>
                <a:lnTo>
                  <a:pt x="1714" y="177634"/>
                </a:lnTo>
                <a:lnTo>
                  <a:pt x="2209" y="174320"/>
                </a:lnTo>
                <a:lnTo>
                  <a:pt x="2692" y="171018"/>
                </a:lnTo>
                <a:lnTo>
                  <a:pt x="3263" y="167716"/>
                </a:lnTo>
                <a:lnTo>
                  <a:pt x="3924" y="164439"/>
                </a:lnTo>
                <a:lnTo>
                  <a:pt x="4571" y="161163"/>
                </a:lnTo>
                <a:lnTo>
                  <a:pt x="5308" y="157899"/>
                </a:lnTo>
                <a:lnTo>
                  <a:pt x="6121" y="154660"/>
                </a:lnTo>
                <a:lnTo>
                  <a:pt x="6934" y="151409"/>
                </a:lnTo>
                <a:lnTo>
                  <a:pt x="19608" y="116954"/>
                </a:lnTo>
                <a:lnTo>
                  <a:pt x="21043" y="113931"/>
                </a:lnTo>
                <a:lnTo>
                  <a:pt x="34429" y="90792"/>
                </a:lnTo>
                <a:lnTo>
                  <a:pt x="36283" y="88011"/>
                </a:lnTo>
                <a:lnTo>
                  <a:pt x="38201" y="85280"/>
                </a:lnTo>
                <a:lnTo>
                  <a:pt x="40195" y="82600"/>
                </a:lnTo>
                <a:lnTo>
                  <a:pt x="42189" y="79908"/>
                </a:lnTo>
                <a:lnTo>
                  <a:pt x="59829" y="59842"/>
                </a:lnTo>
                <a:lnTo>
                  <a:pt x="62191" y="57467"/>
                </a:lnTo>
                <a:lnTo>
                  <a:pt x="74688" y="46367"/>
                </a:lnTo>
                <a:lnTo>
                  <a:pt x="77266" y="44246"/>
                </a:lnTo>
                <a:lnTo>
                  <a:pt x="90792" y="34429"/>
                </a:lnTo>
                <a:lnTo>
                  <a:pt x="93573" y="32575"/>
                </a:lnTo>
                <a:lnTo>
                  <a:pt x="96392" y="30784"/>
                </a:lnTo>
                <a:lnTo>
                  <a:pt x="99263" y="29070"/>
                </a:lnTo>
                <a:lnTo>
                  <a:pt x="102133" y="27343"/>
                </a:lnTo>
                <a:lnTo>
                  <a:pt x="138620" y="10820"/>
                </a:lnTo>
                <a:lnTo>
                  <a:pt x="144983" y="8801"/>
                </a:lnTo>
                <a:lnTo>
                  <a:pt x="148183" y="7823"/>
                </a:lnTo>
                <a:lnTo>
                  <a:pt x="164439" y="3924"/>
                </a:lnTo>
                <a:lnTo>
                  <a:pt x="167716" y="3276"/>
                </a:lnTo>
                <a:lnTo>
                  <a:pt x="171005" y="2705"/>
                </a:lnTo>
                <a:lnTo>
                  <a:pt x="174320" y="2209"/>
                </a:lnTo>
                <a:lnTo>
                  <a:pt x="177622" y="1714"/>
                </a:lnTo>
                <a:lnTo>
                  <a:pt x="194271" y="241"/>
                </a:lnTo>
                <a:lnTo>
                  <a:pt x="197611" y="76"/>
                </a:lnTo>
                <a:lnTo>
                  <a:pt x="200952" y="0"/>
                </a:lnTo>
                <a:lnTo>
                  <a:pt x="204292" y="0"/>
                </a:lnTo>
                <a:close/>
              </a:path>
            </a:pathLst>
          </a:custGeom>
          <a:ln w="1570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305343" y="2948567"/>
            <a:ext cx="321310" cy="298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25">
                <a:solidFill>
                  <a:srgbClr val="FFFFFF"/>
                </a:solidFill>
                <a:latin typeface="Azeret Mono"/>
                <a:cs typeface="Azeret Mono"/>
              </a:rPr>
              <a:t>03</a:t>
            </a:r>
            <a:endParaRPr sz="1750">
              <a:latin typeface="Azeret Mono"/>
              <a:cs typeface="Azeret Mo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53311" y="2948567"/>
            <a:ext cx="321310" cy="298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25">
                <a:solidFill>
                  <a:srgbClr val="FFFFFF"/>
                </a:solidFill>
                <a:latin typeface="Azeret Mono"/>
                <a:cs typeface="Azeret Mono"/>
              </a:rPr>
              <a:t>02</a:t>
            </a:r>
            <a:endParaRPr sz="1750">
              <a:latin typeface="Azeret Mono"/>
              <a:cs typeface="Azeret Mo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01280" y="2948567"/>
            <a:ext cx="321310" cy="298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25">
                <a:solidFill>
                  <a:srgbClr val="FFFFFF"/>
                </a:solidFill>
                <a:latin typeface="Azeret Mono"/>
                <a:cs typeface="Azeret Mono"/>
              </a:rPr>
              <a:t>01</a:t>
            </a:r>
            <a:endParaRPr sz="1750">
              <a:latin typeface="Azeret Mono"/>
              <a:cs typeface="Azeret Mon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095306" y="3028555"/>
            <a:ext cx="410845" cy="192405"/>
            <a:chOff x="13095306" y="3028555"/>
            <a:chExt cx="410845" cy="19240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00102" y="3028555"/>
              <a:ext cx="105917" cy="1067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095306" y="3114423"/>
              <a:ext cx="410845" cy="106045"/>
            </a:xfrm>
            <a:custGeom>
              <a:avLst/>
              <a:gdLst/>
              <a:ahLst/>
              <a:cxnLst/>
              <a:rect l="l" t="t" r="r" b="b"/>
              <a:pathLst>
                <a:path w="410844" h="106044">
                  <a:moveTo>
                    <a:pt x="403860" y="0"/>
                  </a:moveTo>
                  <a:lnTo>
                    <a:pt x="7315" y="0"/>
                  </a:lnTo>
                  <a:lnTo>
                    <a:pt x="4787" y="1041"/>
                  </a:lnTo>
                  <a:lnTo>
                    <a:pt x="1054" y="4787"/>
                  </a:lnTo>
                  <a:lnTo>
                    <a:pt x="0" y="7315"/>
                  </a:lnTo>
                  <a:lnTo>
                    <a:pt x="0" y="9956"/>
                  </a:lnTo>
                  <a:lnTo>
                    <a:pt x="0" y="12598"/>
                  </a:lnTo>
                  <a:lnTo>
                    <a:pt x="1054" y="15125"/>
                  </a:lnTo>
                  <a:lnTo>
                    <a:pt x="4787" y="18872"/>
                  </a:lnTo>
                  <a:lnTo>
                    <a:pt x="7315" y="19913"/>
                  </a:lnTo>
                  <a:lnTo>
                    <a:pt x="375793" y="19913"/>
                  </a:lnTo>
                  <a:lnTo>
                    <a:pt x="303822" y="91884"/>
                  </a:lnTo>
                  <a:lnTo>
                    <a:pt x="303822" y="98183"/>
                  </a:lnTo>
                  <a:lnTo>
                    <a:pt x="311607" y="105968"/>
                  </a:lnTo>
                  <a:lnTo>
                    <a:pt x="317906" y="105968"/>
                  </a:lnTo>
                  <a:lnTo>
                    <a:pt x="409727" y="14147"/>
                  </a:lnTo>
                  <a:lnTo>
                    <a:pt x="410578" y="9867"/>
                  </a:lnTo>
                  <a:lnTo>
                    <a:pt x="407492" y="2425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7243233" y="3028555"/>
            <a:ext cx="410845" cy="192405"/>
            <a:chOff x="7243233" y="3028555"/>
            <a:chExt cx="410845" cy="19240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8030" y="3028555"/>
              <a:ext cx="105930" cy="10670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243233" y="3114423"/>
              <a:ext cx="410845" cy="106045"/>
            </a:xfrm>
            <a:custGeom>
              <a:avLst/>
              <a:gdLst/>
              <a:ahLst/>
              <a:cxnLst/>
              <a:rect l="l" t="t" r="r" b="b"/>
              <a:pathLst>
                <a:path w="410845" h="106044">
                  <a:moveTo>
                    <a:pt x="403860" y="0"/>
                  </a:moveTo>
                  <a:lnTo>
                    <a:pt x="7315" y="0"/>
                  </a:lnTo>
                  <a:lnTo>
                    <a:pt x="4787" y="1041"/>
                  </a:lnTo>
                  <a:lnTo>
                    <a:pt x="1041" y="4787"/>
                  </a:lnTo>
                  <a:lnTo>
                    <a:pt x="0" y="7315"/>
                  </a:lnTo>
                  <a:lnTo>
                    <a:pt x="0" y="9956"/>
                  </a:lnTo>
                  <a:lnTo>
                    <a:pt x="0" y="12598"/>
                  </a:lnTo>
                  <a:lnTo>
                    <a:pt x="1041" y="15125"/>
                  </a:lnTo>
                  <a:lnTo>
                    <a:pt x="4787" y="18872"/>
                  </a:lnTo>
                  <a:lnTo>
                    <a:pt x="7315" y="19913"/>
                  </a:lnTo>
                  <a:lnTo>
                    <a:pt x="375793" y="19913"/>
                  </a:lnTo>
                  <a:lnTo>
                    <a:pt x="303822" y="91884"/>
                  </a:lnTo>
                  <a:lnTo>
                    <a:pt x="303822" y="98183"/>
                  </a:lnTo>
                  <a:lnTo>
                    <a:pt x="311607" y="105968"/>
                  </a:lnTo>
                  <a:lnTo>
                    <a:pt x="317906" y="105968"/>
                  </a:lnTo>
                  <a:lnTo>
                    <a:pt x="409727" y="14147"/>
                  </a:lnTo>
                  <a:lnTo>
                    <a:pt x="410578" y="9867"/>
                  </a:lnTo>
                  <a:lnTo>
                    <a:pt x="407492" y="2425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1391164" y="3028555"/>
            <a:ext cx="410845" cy="192405"/>
            <a:chOff x="1391164" y="3028555"/>
            <a:chExt cx="410845" cy="19240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5960" y="3028555"/>
              <a:ext cx="105930" cy="10670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91164" y="3114423"/>
              <a:ext cx="410845" cy="106045"/>
            </a:xfrm>
            <a:custGeom>
              <a:avLst/>
              <a:gdLst/>
              <a:ahLst/>
              <a:cxnLst/>
              <a:rect l="l" t="t" r="r" b="b"/>
              <a:pathLst>
                <a:path w="410844" h="106044">
                  <a:moveTo>
                    <a:pt x="403860" y="0"/>
                  </a:moveTo>
                  <a:lnTo>
                    <a:pt x="7315" y="0"/>
                  </a:lnTo>
                  <a:lnTo>
                    <a:pt x="4787" y="1041"/>
                  </a:lnTo>
                  <a:lnTo>
                    <a:pt x="1041" y="4787"/>
                  </a:lnTo>
                  <a:lnTo>
                    <a:pt x="0" y="7315"/>
                  </a:lnTo>
                  <a:lnTo>
                    <a:pt x="0" y="9956"/>
                  </a:lnTo>
                  <a:lnTo>
                    <a:pt x="0" y="12598"/>
                  </a:lnTo>
                  <a:lnTo>
                    <a:pt x="1041" y="15125"/>
                  </a:lnTo>
                  <a:lnTo>
                    <a:pt x="4787" y="18872"/>
                  </a:lnTo>
                  <a:lnTo>
                    <a:pt x="7315" y="19913"/>
                  </a:lnTo>
                  <a:lnTo>
                    <a:pt x="375793" y="19913"/>
                  </a:lnTo>
                  <a:lnTo>
                    <a:pt x="303822" y="91884"/>
                  </a:lnTo>
                  <a:lnTo>
                    <a:pt x="303822" y="98183"/>
                  </a:lnTo>
                  <a:lnTo>
                    <a:pt x="311607" y="105968"/>
                  </a:lnTo>
                  <a:lnTo>
                    <a:pt x="317906" y="105968"/>
                  </a:lnTo>
                  <a:lnTo>
                    <a:pt x="409727" y="14147"/>
                  </a:lnTo>
                  <a:lnTo>
                    <a:pt x="410578" y="9867"/>
                  </a:lnTo>
                  <a:lnTo>
                    <a:pt x="407492" y="2425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61559"/>
            <a:ext cx="18279745" cy="357505"/>
            <a:chOff x="0" y="5861559"/>
            <a:chExt cx="18279745" cy="357505"/>
          </a:xfrm>
        </p:grpSpPr>
        <p:sp>
          <p:nvSpPr>
            <p:cNvPr id="3" name="object 3"/>
            <p:cNvSpPr/>
            <p:nvPr/>
          </p:nvSpPr>
          <p:spPr>
            <a:xfrm>
              <a:off x="0" y="6032072"/>
              <a:ext cx="18279745" cy="0"/>
            </a:xfrm>
            <a:custGeom>
              <a:avLst/>
              <a:gdLst/>
              <a:ahLst/>
              <a:cxnLst/>
              <a:rect l="l" t="t" r="r" b="b"/>
              <a:pathLst>
                <a:path w="18279745" h="0">
                  <a:moveTo>
                    <a:pt x="0" y="0"/>
                  </a:moveTo>
                  <a:lnTo>
                    <a:pt x="18279440" y="0"/>
                  </a:lnTo>
                </a:path>
              </a:pathLst>
            </a:custGeom>
            <a:ln w="95250">
              <a:solidFill>
                <a:srgbClr val="FF53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0856" y="5861570"/>
              <a:ext cx="14001750" cy="357505"/>
            </a:xfrm>
            <a:custGeom>
              <a:avLst/>
              <a:gdLst/>
              <a:ahLst/>
              <a:cxnLst/>
              <a:rect l="l" t="t" r="r" b="b"/>
              <a:pathLst>
                <a:path w="14001750" h="357504">
                  <a:moveTo>
                    <a:pt x="356895" y="178447"/>
                  </a:moveTo>
                  <a:lnTo>
                    <a:pt x="350520" y="131000"/>
                  </a:lnTo>
                  <a:lnTo>
                    <a:pt x="332524" y="88379"/>
                  </a:lnTo>
                  <a:lnTo>
                    <a:pt x="304622" y="52260"/>
                  </a:lnTo>
                  <a:lnTo>
                    <a:pt x="268516" y="24358"/>
                  </a:lnTo>
                  <a:lnTo>
                    <a:pt x="225882" y="6375"/>
                  </a:lnTo>
                  <a:lnTo>
                    <a:pt x="178447" y="0"/>
                  </a:lnTo>
                  <a:lnTo>
                    <a:pt x="131013" y="6375"/>
                  </a:lnTo>
                  <a:lnTo>
                    <a:pt x="88379" y="24358"/>
                  </a:lnTo>
                  <a:lnTo>
                    <a:pt x="52260" y="52260"/>
                  </a:lnTo>
                  <a:lnTo>
                    <a:pt x="24358" y="88379"/>
                  </a:lnTo>
                  <a:lnTo>
                    <a:pt x="6375" y="131000"/>
                  </a:lnTo>
                  <a:lnTo>
                    <a:pt x="0" y="178447"/>
                  </a:lnTo>
                  <a:lnTo>
                    <a:pt x="6375" y="225882"/>
                  </a:lnTo>
                  <a:lnTo>
                    <a:pt x="24358" y="268503"/>
                  </a:lnTo>
                  <a:lnTo>
                    <a:pt x="52260" y="304622"/>
                  </a:lnTo>
                  <a:lnTo>
                    <a:pt x="88379" y="332524"/>
                  </a:lnTo>
                  <a:lnTo>
                    <a:pt x="131013" y="350520"/>
                  </a:lnTo>
                  <a:lnTo>
                    <a:pt x="178447" y="356895"/>
                  </a:lnTo>
                  <a:lnTo>
                    <a:pt x="225882" y="350520"/>
                  </a:lnTo>
                  <a:lnTo>
                    <a:pt x="268516" y="332524"/>
                  </a:lnTo>
                  <a:lnTo>
                    <a:pt x="304622" y="304622"/>
                  </a:lnTo>
                  <a:lnTo>
                    <a:pt x="332524" y="268503"/>
                  </a:lnTo>
                  <a:lnTo>
                    <a:pt x="350520" y="225882"/>
                  </a:lnTo>
                  <a:lnTo>
                    <a:pt x="356895" y="178447"/>
                  </a:lnTo>
                  <a:close/>
                </a:path>
                <a:path w="14001750" h="357504">
                  <a:moveTo>
                    <a:pt x="3768001" y="178447"/>
                  </a:moveTo>
                  <a:lnTo>
                    <a:pt x="3761625" y="131000"/>
                  </a:lnTo>
                  <a:lnTo>
                    <a:pt x="3743629" y="88379"/>
                  </a:lnTo>
                  <a:lnTo>
                    <a:pt x="3715728" y="52260"/>
                  </a:lnTo>
                  <a:lnTo>
                    <a:pt x="3679609" y="24358"/>
                  </a:lnTo>
                  <a:lnTo>
                    <a:pt x="3636988" y="6375"/>
                  </a:lnTo>
                  <a:lnTo>
                    <a:pt x="3589553" y="0"/>
                  </a:lnTo>
                  <a:lnTo>
                    <a:pt x="3542106" y="6375"/>
                  </a:lnTo>
                  <a:lnTo>
                    <a:pt x="3499485" y="24358"/>
                  </a:lnTo>
                  <a:lnTo>
                    <a:pt x="3463366" y="52260"/>
                  </a:lnTo>
                  <a:lnTo>
                    <a:pt x="3435464" y="88379"/>
                  </a:lnTo>
                  <a:lnTo>
                    <a:pt x="3417481" y="131000"/>
                  </a:lnTo>
                  <a:lnTo>
                    <a:pt x="3411105" y="178447"/>
                  </a:lnTo>
                  <a:lnTo>
                    <a:pt x="3417481" y="225882"/>
                  </a:lnTo>
                  <a:lnTo>
                    <a:pt x="3435464" y="268503"/>
                  </a:lnTo>
                  <a:lnTo>
                    <a:pt x="3463366" y="304622"/>
                  </a:lnTo>
                  <a:lnTo>
                    <a:pt x="3499485" y="332524"/>
                  </a:lnTo>
                  <a:lnTo>
                    <a:pt x="3542106" y="350520"/>
                  </a:lnTo>
                  <a:lnTo>
                    <a:pt x="3589553" y="356895"/>
                  </a:lnTo>
                  <a:lnTo>
                    <a:pt x="3636988" y="350520"/>
                  </a:lnTo>
                  <a:lnTo>
                    <a:pt x="3679609" y="332524"/>
                  </a:lnTo>
                  <a:lnTo>
                    <a:pt x="3715728" y="304622"/>
                  </a:lnTo>
                  <a:lnTo>
                    <a:pt x="3743629" y="268503"/>
                  </a:lnTo>
                  <a:lnTo>
                    <a:pt x="3761625" y="225882"/>
                  </a:lnTo>
                  <a:lnTo>
                    <a:pt x="3768001" y="178447"/>
                  </a:lnTo>
                  <a:close/>
                </a:path>
                <a:path w="14001750" h="357504">
                  <a:moveTo>
                    <a:pt x="7179069" y="178447"/>
                  </a:moveTo>
                  <a:lnTo>
                    <a:pt x="7172693" y="131000"/>
                  </a:lnTo>
                  <a:lnTo>
                    <a:pt x="7154697" y="88379"/>
                  </a:lnTo>
                  <a:lnTo>
                    <a:pt x="7126795" y="52260"/>
                  </a:lnTo>
                  <a:lnTo>
                    <a:pt x="7090677" y="24358"/>
                  </a:lnTo>
                  <a:lnTo>
                    <a:pt x="7048055" y="6375"/>
                  </a:lnTo>
                  <a:lnTo>
                    <a:pt x="7000621" y="0"/>
                  </a:lnTo>
                  <a:lnTo>
                    <a:pt x="6953174" y="6375"/>
                  </a:lnTo>
                  <a:lnTo>
                    <a:pt x="6910552" y="24358"/>
                  </a:lnTo>
                  <a:lnTo>
                    <a:pt x="6874434" y="52260"/>
                  </a:lnTo>
                  <a:lnTo>
                    <a:pt x="6846532" y="88379"/>
                  </a:lnTo>
                  <a:lnTo>
                    <a:pt x="6828549" y="131000"/>
                  </a:lnTo>
                  <a:lnTo>
                    <a:pt x="6822173" y="178447"/>
                  </a:lnTo>
                  <a:lnTo>
                    <a:pt x="6828549" y="225882"/>
                  </a:lnTo>
                  <a:lnTo>
                    <a:pt x="6846532" y="268503"/>
                  </a:lnTo>
                  <a:lnTo>
                    <a:pt x="6874434" y="304622"/>
                  </a:lnTo>
                  <a:lnTo>
                    <a:pt x="6910552" y="332524"/>
                  </a:lnTo>
                  <a:lnTo>
                    <a:pt x="6953174" y="350520"/>
                  </a:lnTo>
                  <a:lnTo>
                    <a:pt x="7000621" y="356895"/>
                  </a:lnTo>
                  <a:lnTo>
                    <a:pt x="7048055" y="350520"/>
                  </a:lnTo>
                  <a:lnTo>
                    <a:pt x="7090677" y="332524"/>
                  </a:lnTo>
                  <a:lnTo>
                    <a:pt x="7126795" y="304622"/>
                  </a:lnTo>
                  <a:lnTo>
                    <a:pt x="7154697" y="268503"/>
                  </a:lnTo>
                  <a:lnTo>
                    <a:pt x="7172693" y="225882"/>
                  </a:lnTo>
                  <a:lnTo>
                    <a:pt x="7179069" y="178447"/>
                  </a:lnTo>
                  <a:close/>
                </a:path>
                <a:path w="14001750" h="357504">
                  <a:moveTo>
                    <a:pt x="10590174" y="178447"/>
                  </a:moveTo>
                  <a:lnTo>
                    <a:pt x="10583799" y="131000"/>
                  </a:lnTo>
                  <a:lnTo>
                    <a:pt x="10565803" y="88379"/>
                  </a:lnTo>
                  <a:lnTo>
                    <a:pt x="10537901" y="52260"/>
                  </a:lnTo>
                  <a:lnTo>
                    <a:pt x="10501782" y="24358"/>
                  </a:lnTo>
                  <a:lnTo>
                    <a:pt x="10459161" y="6375"/>
                  </a:lnTo>
                  <a:lnTo>
                    <a:pt x="10411727" y="0"/>
                  </a:lnTo>
                  <a:lnTo>
                    <a:pt x="10364279" y="6375"/>
                  </a:lnTo>
                  <a:lnTo>
                    <a:pt x="10321658" y="24358"/>
                  </a:lnTo>
                  <a:lnTo>
                    <a:pt x="10285539" y="52260"/>
                  </a:lnTo>
                  <a:lnTo>
                    <a:pt x="10257638" y="88379"/>
                  </a:lnTo>
                  <a:lnTo>
                    <a:pt x="10239642" y="131000"/>
                  </a:lnTo>
                  <a:lnTo>
                    <a:pt x="10233279" y="178447"/>
                  </a:lnTo>
                  <a:lnTo>
                    <a:pt x="10239642" y="225882"/>
                  </a:lnTo>
                  <a:lnTo>
                    <a:pt x="10257638" y="268503"/>
                  </a:lnTo>
                  <a:lnTo>
                    <a:pt x="10285539" y="304622"/>
                  </a:lnTo>
                  <a:lnTo>
                    <a:pt x="10321658" y="332524"/>
                  </a:lnTo>
                  <a:lnTo>
                    <a:pt x="10364279" y="350520"/>
                  </a:lnTo>
                  <a:lnTo>
                    <a:pt x="10411727" y="356895"/>
                  </a:lnTo>
                  <a:lnTo>
                    <a:pt x="10459161" y="350520"/>
                  </a:lnTo>
                  <a:lnTo>
                    <a:pt x="10501782" y="332524"/>
                  </a:lnTo>
                  <a:lnTo>
                    <a:pt x="10537901" y="304622"/>
                  </a:lnTo>
                  <a:lnTo>
                    <a:pt x="10565803" y="268503"/>
                  </a:lnTo>
                  <a:lnTo>
                    <a:pt x="10583799" y="225882"/>
                  </a:lnTo>
                  <a:lnTo>
                    <a:pt x="10590174" y="178447"/>
                  </a:lnTo>
                  <a:close/>
                </a:path>
                <a:path w="14001750" h="357504">
                  <a:moveTo>
                    <a:pt x="14001229" y="178447"/>
                  </a:moveTo>
                  <a:lnTo>
                    <a:pt x="13994854" y="131000"/>
                  </a:lnTo>
                  <a:lnTo>
                    <a:pt x="13976871" y="88379"/>
                  </a:lnTo>
                  <a:lnTo>
                    <a:pt x="13948969" y="52260"/>
                  </a:lnTo>
                  <a:lnTo>
                    <a:pt x="13912850" y="24358"/>
                  </a:lnTo>
                  <a:lnTo>
                    <a:pt x="13870229" y="6375"/>
                  </a:lnTo>
                  <a:lnTo>
                    <a:pt x="13822782" y="0"/>
                  </a:lnTo>
                  <a:lnTo>
                    <a:pt x="13775347" y="6375"/>
                  </a:lnTo>
                  <a:lnTo>
                    <a:pt x="13732726" y="24358"/>
                  </a:lnTo>
                  <a:lnTo>
                    <a:pt x="13696607" y="52260"/>
                  </a:lnTo>
                  <a:lnTo>
                    <a:pt x="13668705" y="88379"/>
                  </a:lnTo>
                  <a:lnTo>
                    <a:pt x="13650709" y="131000"/>
                  </a:lnTo>
                  <a:lnTo>
                    <a:pt x="13644334" y="178447"/>
                  </a:lnTo>
                  <a:lnTo>
                    <a:pt x="13650709" y="225882"/>
                  </a:lnTo>
                  <a:lnTo>
                    <a:pt x="13668705" y="268503"/>
                  </a:lnTo>
                  <a:lnTo>
                    <a:pt x="13696607" y="304622"/>
                  </a:lnTo>
                  <a:lnTo>
                    <a:pt x="13732726" y="332524"/>
                  </a:lnTo>
                  <a:lnTo>
                    <a:pt x="13775347" y="350520"/>
                  </a:lnTo>
                  <a:lnTo>
                    <a:pt x="13822782" y="356895"/>
                  </a:lnTo>
                  <a:lnTo>
                    <a:pt x="13870229" y="350520"/>
                  </a:lnTo>
                  <a:lnTo>
                    <a:pt x="13912850" y="332524"/>
                  </a:lnTo>
                  <a:lnTo>
                    <a:pt x="13948969" y="304622"/>
                  </a:lnTo>
                  <a:lnTo>
                    <a:pt x="13976871" y="268503"/>
                  </a:lnTo>
                  <a:lnTo>
                    <a:pt x="13994854" y="225882"/>
                  </a:lnTo>
                  <a:lnTo>
                    <a:pt x="14001229" y="178447"/>
                  </a:lnTo>
                  <a:close/>
                </a:path>
              </a:pathLst>
            </a:custGeom>
            <a:solidFill>
              <a:srgbClr val="520E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542504" y="4992993"/>
            <a:ext cx="21520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Use</a:t>
            </a:r>
            <a:r>
              <a:rPr dirty="0" sz="2800" spc="-4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of</a:t>
            </a:r>
            <a:r>
              <a:rPr dirty="0" sz="2800" spc="-4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funds</a:t>
            </a:r>
            <a:endParaRPr sz="2800">
              <a:latin typeface="Muli"/>
              <a:cs typeface="Mul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1589" y="4566273"/>
            <a:ext cx="2675255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Raise: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Under</a:t>
            </a:r>
            <a:endParaRPr sz="2800">
              <a:latin typeface="Muli"/>
              <a:cs typeface="Muli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$250k</a:t>
            </a:r>
            <a:r>
              <a:rPr dirty="0" sz="2800" spc="1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pre-</a:t>
            </a:r>
            <a:r>
              <a:rPr dirty="0" sz="2800" spc="-20" b="1">
                <a:solidFill>
                  <a:srgbClr val="520E3A"/>
                </a:solidFill>
                <a:latin typeface="Muli"/>
                <a:cs typeface="Muli"/>
              </a:rPr>
              <a:t>seed</a:t>
            </a:r>
            <a:endParaRPr sz="2800">
              <a:latin typeface="Muli"/>
              <a:cs typeface="Mul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20318" y="4139553"/>
            <a:ext cx="228028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6-12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months: Platform expansion</a:t>
            </a:r>
            <a:endParaRPr sz="2800">
              <a:latin typeface="Muli"/>
              <a:cs typeface="Mul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9403" y="4566273"/>
            <a:ext cx="2673350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Next:</a:t>
            </a:r>
            <a:r>
              <a:rPr dirty="0" sz="2800" spc="-7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30" b="1">
                <a:solidFill>
                  <a:srgbClr val="520E3A"/>
                </a:solidFill>
                <a:latin typeface="Muli"/>
                <a:cs typeface="Muli"/>
              </a:rPr>
              <a:t>Workflow </a:t>
            </a:r>
            <a:r>
              <a:rPr dirty="0" sz="2800" spc="-10" b="1">
                <a:solidFill>
                  <a:srgbClr val="520E3A"/>
                </a:solidFill>
                <a:latin typeface="Muli"/>
                <a:cs typeface="Muli"/>
              </a:rPr>
              <a:t>integrations</a:t>
            </a:r>
            <a:endParaRPr sz="2800">
              <a:latin typeface="Muli"/>
              <a:cs typeface="Mul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8132" y="4992993"/>
            <a:ext cx="28181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0" b="1">
                <a:solidFill>
                  <a:srgbClr val="520E3A"/>
                </a:solidFill>
                <a:latin typeface="Muli"/>
                <a:cs typeface="Muli"/>
              </a:rPr>
              <a:t>Today:</a:t>
            </a:r>
            <a:r>
              <a:rPr dirty="0" sz="2800" spc="-95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b="1">
                <a:solidFill>
                  <a:srgbClr val="520E3A"/>
                </a:solidFill>
                <a:latin typeface="Muli"/>
                <a:cs typeface="Muli"/>
              </a:rPr>
              <a:t>Live</a:t>
            </a:r>
            <a:r>
              <a:rPr dirty="0" sz="2800" spc="-90" b="1">
                <a:solidFill>
                  <a:srgbClr val="520E3A"/>
                </a:solidFill>
                <a:latin typeface="Muli"/>
                <a:cs typeface="Muli"/>
              </a:rPr>
              <a:t> </a:t>
            </a:r>
            <a:r>
              <a:rPr dirty="0" sz="2800" spc="-25" b="1">
                <a:solidFill>
                  <a:srgbClr val="520E3A"/>
                </a:solidFill>
                <a:latin typeface="Muli"/>
                <a:cs typeface="Muli"/>
              </a:rPr>
              <a:t>MVP</a:t>
            </a:r>
            <a:endParaRPr sz="2800">
              <a:latin typeface="Muli"/>
              <a:cs typeface="Mul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42504" y="6441793"/>
            <a:ext cx="24314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50%</a:t>
            </a:r>
            <a:r>
              <a:rPr dirty="0" sz="2000" spc="-1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Eng,</a:t>
            </a:r>
            <a:r>
              <a:rPr dirty="0" sz="2000" spc="-1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30%</a:t>
            </a:r>
            <a:r>
              <a:rPr dirty="0" sz="2000" spc="-1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GTM,</a:t>
            </a:r>
            <a:endParaRPr sz="2000">
              <a:latin typeface="Muli"/>
              <a:cs typeface="Mul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20%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Audits/Legal</a:t>
            </a:r>
            <a:endParaRPr sz="2000">
              <a:latin typeface="Muli"/>
              <a:cs typeface="Mul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31538" y="6441793"/>
            <a:ext cx="231013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SAFE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round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to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fund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product</a:t>
            </a:r>
            <a:r>
              <a:rPr dirty="0" sz="2000" spc="-4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GTM</a:t>
            </a:r>
            <a:endParaRPr sz="2000">
              <a:latin typeface="Muli"/>
              <a:cs typeface="Mul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20318" y="6441793"/>
            <a:ext cx="268605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Launch</a:t>
            </a:r>
            <a:r>
              <a:rPr dirty="0" sz="2000" spc="-3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API</a:t>
            </a:r>
            <a:r>
              <a:rPr dirty="0" sz="2000" spc="-3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and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broaden</a:t>
            </a:r>
            <a:r>
              <a:rPr dirty="0" sz="2000" spc="-7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chain</a:t>
            </a:r>
            <a:r>
              <a:rPr dirty="0" sz="2000" spc="-7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support</a:t>
            </a:r>
            <a:endParaRPr sz="2000">
              <a:latin typeface="Muli"/>
              <a:cs typeface="Mul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9352" y="6441793"/>
            <a:ext cx="26758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Plug</a:t>
            </a:r>
            <a:r>
              <a:rPr dirty="0" sz="2000" spc="-2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into</a:t>
            </a:r>
            <a:r>
              <a:rPr dirty="0" sz="2000" spc="-1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dev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workflows</a:t>
            </a:r>
            <a:r>
              <a:rPr dirty="0" sz="2000" spc="-7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2000" spc="-7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release cycles</a:t>
            </a:r>
            <a:endParaRPr sz="2000">
              <a:latin typeface="Muli"/>
              <a:cs typeface="Mul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8132" y="6441793"/>
            <a:ext cx="221107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Vercel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MVP</a:t>
            </a:r>
            <a:r>
              <a:rPr dirty="0" sz="2000" spc="-50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live</a:t>
            </a:r>
            <a:r>
              <a:rPr dirty="0" sz="2000" spc="-55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2000" spc="-25">
                <a:solidFill>
                  <a:srgbClr val="30272D"/>
                </a:solidFill>
                <a:latin typeface="Muli"/>
                <a:cs typeface="Muli"/>
              </a:rPr>
              <a:t>for </a:t>
            </a:r>
            <a:r>
              <a:rPr dirty="0" sz="2000">
                <a:solidFill>
                  <a:srgbClr val="30272D"/>
                </a:solidFill>
                <a:latin typeface="Muli"/>
                <a:cs typeface="Muli"/>
              </a:rPr>
              <a:t>early </a:t>
            </a:r>
            <a:r>
              <a:rPr dirty="0" sz="2000" spc="-10">
                <a:solidFill>
                  <a:srgbClr val="30272D"/>
                </a:solidFill>
                <a:latin typeface="Muli"/>
                <a:cs typeface="Muli"/>
              </a:rPr>
              <a:t>validation</a:t>
            </a:r>
            <a:endParaRPr sz="2000">
              <a:latin typeface="Muli"/>
              <a:cs typeface="Mul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3485" y="9393394"/>
            <a:ext cx="10115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Page</a:t>
            </a:r>
            <a:r>
              <a:rPr dirty="0" sz="1900" spc="19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25" b="1">
                <a:solidFill>
                  <a:srgbClr val="30272D"/>
                </a:solidFill>
                <a:latin typeface="Muli"/>
                <a:cs typeface="Muli"/>
              </a:rPr>
              <a:t>15</a:t>
            </a:r>
            <a:endParaRPr sz="1900">
              <a:latin typeface="Muli"/>
              <a:cs typeface="Mul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3485" y="514037"/>
            <a:ext cx="34029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Go</a:t>
            </a:r>
            <a:r>
              <a:rPr dirty="0" sz="1900" spc="12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To</a:t>
            </a:r>
            <a:r>
              <a:rPr dirty="0" sz="1900" spc="12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Market</a:t>
            </a:r>
            <a:r>
              <a:rPr dirty="0" sz="1900" spc="125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b="1">
                <a:solidFill>
                  <a:srgbClr val="30272D"/>
                </a:solidFill>
                <a:latin typeface="Muli"/>
                <a:cs typeface="Muli"/>
              </a:rPr>
              <a:t>and</a:t>
            </a:r>
            <a:r>
              <a:rPr dirty="0" sz="1900" spc="130" b="1">
                <a:solidFill>
                  <a:srgbClr val="30272D"/>
                </a:solidFill>
                <a:latin typeface="Muli"/>
                <a:cs typeface="Muli"/>
              </a:rPr>
              <a:t> </a:t>
            </a:r>
            <a:r>
              <a:rPr dirty="0" sz="1900" spc="-10" b="1">
                <a:solidFill>
                  <a:srgbClr val="30272D"/>
                </a:solidFill>
                <a:latin typeface="Muli"/>
                <a:cs typeface="Muli"/>
              </a:rPr>
              <a:t>Roadmap</a:t>
            </a:r>
            <a:endParaRPr sz="1900">
              <a:latin typeface="Muli"/>
              <a:cs typeface="Muli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5"/>
              <a:t>Traction</a:t>
            </a:r>
            <a:r>
              <a:rPr dirty="0" spc="-580"/>
              <a:t> </a:t>
            </a:r>
            <a:r>
              <a:rPr dirty="0" spc="-260"/>
              <a:t>Roadmap</a:t>
            </a:r>
            <a:r>
              <a:rPr dirty="0" spc="-580"/>
              <a:t> </a:t>
            </a:r>
            <a:r>
              <a:rPr dirty="0" spc="-325"/>
              <a:t>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2026-08-09T13:49:43Z</dcterms:created>
  <dcterms:modified xsi:type="dcterms:W3CDTF">2026-08-09T13:49:43Z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2026-08-09T00:00:00Z</vt:filetime>
  </property>
  <property fmtid="{D5CDD505-2E9C-101B-9397-08002B2CF9AE}" pid="4" name="CreationClient">
    <vt:lpwstr>outline-to-presentation</vt:lpwstr>
  </property>
  <property fmtid="{D5CDD505-2E9C-101B-9397-08002B2CF9AE}" pid="5" name="Creator">
    <vt:lpwstr>Adobe Express</vt:lpwstr>
  </property>
  <property fmtid="{D5CDD505-2E9C-101B-9397-08002B2CF9AE}" pid="6" name="LastSaved">
    <vt:filetime>2026-08-09T00:00:00Z</vt:filetime>
  </property>
  <property fmtid="{D5CDD505-2E9C-101B-9397-08002B2CF9AE}" pid="7" name="Producer">
    <vt:lpwstr>Adobe Express</vt:lpwstr>
  </property>
</Properties>
</file>